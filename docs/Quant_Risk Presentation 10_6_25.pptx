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embeddedFontLst>
    <p:embeddedFont>
      <p:font typeface="Oswald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iNebxvL62bkCkj+kGgdIv2bPLh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font" Target="fonts/Oswald-bold.fntdata"/><Relationship Id="rId10" Type="http://schemas.openxmlformats.org/officeDocument/2006/relationships/slide" Target="slides/slide6.xml"/><Relationship Id="rId21" Type="http://schemas.openxmlformats.org/officeDocument/2006/relationships/font" Target="fonts/Oswald-regular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9615a1718_3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g389615a1718_3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1fe1c6a7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Investors don’t fear all volatility — only </a:t>
            </a:r>
            <a:r>
              <a:rPr i="1" lang="en-US">
                <a:solidFill>
                  <a:schemeClr val="dk1"/>
                </a:solidFill>
              </a:rPr>
              <a:t>losses.</a:t>
            </a:r>
            <a:br>
              <a:rPr i="1" lang="en-US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Upside volatility doesn’t hurt; downside volatility does.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Downside risk isolates the part of volatility that actually matters.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Our goal for SMIF: highlight </a:t>
            </a:r>
            <a:r>
              <a:rPr i="1" lang="en-US">
                <a:solidFill>
                  <a:schemeClr val="dk1"/>
                </a:solidFill>
              </a:rPr>
              <a:t>true portfolio risk</a:t>
            </a:r>
            <a:r>
              <a:rPr lang="en-US">
                <a:solidFill>
                  <a:schemeClr val="dk1"/>
                </a:solidFill>
              </a:rPr>
              <a:t>, not noise from positive swings.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g381fe1c6a79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1d67234f8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81d67234f8_5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1d67234f8_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g381d67234f8_5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1d67234f8_5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Measures return earned per unit of </a:t>
            </a:r>
            <a:r>
              <a:rPr i="1" lang="en-US">
                <a:solidFill>
                  <a:schemeClr val="dk1"/>
                </a:solidFill>
              </a:rPr>
              <a:t>downside risk.</a:t>
            </a:r>
            <a:br>
              <a:rPr i="1" lang="en-US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Higher Sortino = more efficient downside performance.</a:t>
            </a:r>
            <a:br>
              <a:rPr lang="en-US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Focuses on </a:t>
            </a:r>
            <a:r>
              <a:rPr i="1" lang="en-US">
                <a:solidFill>
                  <a:schemeClr val="dk1"/>
                </a:solidFill>
              </a:rPr>
              <a:t>quality of risk-taking</a:t>
            </a:r>
            <a:r>
              <a:rPr lang="en-US">
                <a:solidFill>
                  <a:schemeClr val="dk1"/>
                </a:solidFill>
              </a:rPr>
              <a:t>, not just stability.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81d67234f8_5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8fd707c6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g388fd707c65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9615a1718_3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389615a1718_3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9615a1718_3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MS is market share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Value of portfolio/total </a:t>
            </a:r>
            <a:r>
              <a:rPr lang="en-US"/>
              <a:t>portfolio value</a:t>
            </a:r>
            <a:r>
              <a:rPr lang="en-US"/>
              <a:t> </a:t>
            </a:r>
            <a:endParaRPr/>
          </a:p>
        </p:txBody>
      </p:sp>
      <p:sp>
        <p:nvSpPr>
          <p:cNvPr id="162" name="Google Shape;162;g389615a1718_3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89615a1718_1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g389615a1718_1_1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9615a1718_1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3-Factor Model:</a:t>
            </a:r>
            <a:br>
              <a:rPr b="1"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  • Market (MKT–RF) — overall market risk.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  • Size (SMB) — small vs. large-cap performance.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  • Value (HML) — value vs. growth tilt.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5-Factor Model:</a:t>
            </a:r>
            <a:r>
              <a:rPr lang="en-US">
                <a:solidFill>
                  <a:schemeClr val="dk1"/>
                </a:solidFill>
              </a:rPr>
              <a:t> adds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  • Profitability (RMW) — strong vs. weak firms.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  • Investment (CMA) — conservative vs. aggressive investors.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Helps us see whether returns are from </a:t>
            </a:r>
            <a:r>
              <a:rPr i="1" lang="en-US">
                <a:solidFill>
                  <a:schemeClr val="dk1"/>
                </a:solidFill>
              </a:rPr>
              <a:t>skill</a:t>
            </a:r>
            <a:r>
              <a:rPr lang="en-US">
                <a:solidFill>
                  <a:schemeClr val="dk1"/>
                </a:solidFill>
              </a:rPr>
              <a:t> or exposure to common factors.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g389615a1718_1_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89615a1718_1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g389615a1718_1_1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89615a1718_1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g389615a1718_1_1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89615a1718_1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Companies make choices: how much they invest, how much profit they generate.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Those choices affect their stock returns in predictable ways.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The Q-factor model says: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>
                <a:solidFill>
                  <a:schemeClr val="dk1"/>
                </a:solidFill>
              </a:rPr>
              <a:t>Stocks move with the </a:t>
            </a:r>
            <a:r>
              <a:rPr b="1" lang="en-US">
                <a:solidFill>
                  <a:schemeClr val="dk1"/>
                </a:solidFill>
              </a:rPr>
              <a:t>market</a:t>
            </a:r>
            <a:r>
              <a:rPr lang="en-US">
                <a:solidFill>
                  <a:schemeClr val="dk1"/>
                </a:solidFill>
              </a:rPr>
              <a:t>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>
                <a:solidFill>
                  <a:schemeClr val="dk1"/>
                </a:solidFill>
              </a:rPr>
              <a:t>Small companies behave differently from big ones (</a:t>
            </a:r>
            <a:r>
              <a:rPr b="1" lang="en-US">
                <a:solidFill>
                  <a:schemeClr val="dk1"/>
                </a:solidFill>
              </a:rPr>
              <a:t>size</a:t>
            </a:r>
            <a:r>
              <a:rPr lang="en-US">
                <a:solidFill>
                  <a:schemeClr val="dk1"/>
                </a:solidFill>
              </a:rPr>
              <a:t>).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>
                <a:solidFill>
                  <a:schemeClr val="dk1"/>
                </a:solidFill>
              </a:rPr>
              <a:t>Companies that invest cautiously (don’t blow cash on projects) do better than aggressive spenders (</a:t>
            </a:r>
            <a:r>
              <a:rPr b="1" lang="en-US">
                <a:solidFill>
                  <a:schemeClr val="dk1"/>
                </a:solidFill>
              </a:rPr>
              <a:t>investment</a:t>
            </a:r>
            <a:r>
              <a:rPr lang="en-US">
                <a:solidFill>
                  <a:schemeClr val="dk1"/>
                </a:solidFill>
              </a:rPr>
              <a:t>).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>
                <a:solidFill>
                  <a:schemeClr val="dk1"/>
                </a:solidFill>
              </a:rPr>
              <a:t>Companies that make strong profits beat weak ones (</a:t>
            </a:r>
            <a:r>
              <a:rPr b="1" lang="en-US">
                <a:solidFill>
                  <a:schemeClr val="dk1"/>
                </a:solidFill>
              </a:rPr>
              <a:t>profitability</a:t>
            </a:r>
            <a:r>
              <a:rPr lang="en-US">
                <a:solidFill>
                  <a:schemeClr val="dk1"/>
                </a:solidFill>
              </a:rPr>
              <a:t>).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If you’re making money just by holding profitable, conservative firms, that’s </a:t>
            </a:r>
            <a:r>
              <a:rPr b="1" lang="en-US">
                <a:solidFill>
                  <a:schemeClr val="dk1"/>
                </a:solidFill>
              </a:rPr>
              <a:t>not skill</a:t>
            </a:r>
            <a:r>
              <a:rPr lang="en-US">
                <a:solidFill>
                  <a:schemeClr val="dk1"/>
                </a:solidFill>
              </a:rPr>
              <a:t>—that’s just loading on these factors.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Alpha here = did you earn money that can’t be explained by market, size, investment, or profitability?</a:t>
            </a:r>
            <a:br>
              <a:rPr b="1" lang="en-US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👉 Think of it like stripping excuses away: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CAPM says: </a:t>
            </a:r>
            <a:r>
              <a:rPr i="1" lang="en-US">
                <a:solidFill>
                  <a:schemeClr val="dk1"/>
                </a:solidFill>
              </a:rPr>
              <a:t>“You only beat the market if you dodge beta.”</a:t>
            </a:r>
            <a:br>
              <a:rPr i="1" lang="en-US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Fama-French says: </a:t>
            </a:r>
            <a:r>
              <a:rPr i="1" lang="en-US">
                <a:solidFill>
                  <a:schemeClr val="dk1"/>
                </a:solidFill>
              </a:rPr>
              <a:t>“Nope, also no extra points for picking small or cheap stocks.”</a:t>
            </a:r>
            <a:br>
              <a:rPr i="1" lang="en-US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Q-Factor says: </a:t>
            </a:r>
            <a:r>
              <a:rPr i="1" lang="en-US">
                <a:solidFill>
                  <a:schemeClr val="dk1"/>
                </a:solidFill>
              </a:rPr>
              <a:t>“And don’t act like buying profitable or conservative-investment firms is skill either.”</a:t>
            </a:r>
            <a:br>
              <a:rPr i="1" lang="en-US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g389615a1718_1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89615a1718_1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Companies make choices: how much they invest, how much profit they generate.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Those choices affect their stock returns in predictable ways.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The Q-factor model says: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>
                <a:solidFill>
                  <a:schemeClr val="dk1"/>
                </a:solidFill>
              </a:rPr>
              <a:t>Stocks move with the </a:t>
            </a:r>
            <a:r>
              <a:rPr b="1" lang="en-US">
                <a:solidFill>
                  <a:schemeClr val="dk1"/>
                </a:solidFill>
              </a:rPr>
              <a:t>market</a:t>
            </a:r>
            <a:r>
              <a:rPr lang="en-US">
                <a:solidFill>
                  <a:schemeClr val="dk1"/>
                </a:solidFill>
              </a:rPr>
              <a:t>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>
                <a:solidFill>
                  <a:schemeClr val="dk1"/>
                </a:solidFill>
              </a:rPr>
              <a:t>Small companies behave differently from big ones (</a:t>
            </a:r>
            <a:r>
              <a:rPr b="1" lang="en-US">
                <a:solidFill>
                  <a:schemeClr val="dk1"/>
                </a:solidFill>
              </a:rPr>
              <a:t>size</a:t>
            </a:r>
            <a:r>
              <a:rPr lang="en-US">
                <a:solidFill>
                  <a:schemeClr val="dk1"/>
                </a:solidFill>
              </a:rPr>
              <a:t>).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>
                <a:solidFill>
                  <a:schemeClr val="dk1"/>
                </a:solidFill>
              </a:rPr>
              <a:t>Companies that invest cautiously (don’t blow cash on projects) do better than aggressive spenders (</a:t>
            </a:r>
            <a:r>
              <a:rPr b="1" lang="en-US">
                <a:solidFill>
                  <a:schemeClr val="dk1"/>
                </a:solidFill>
              </a:rPr>
              <a:t>investment</a:t>
            </a:r>
            <a:r>
              <a:rPr lang="en-US">
                <a:solidFill>
                  <a:schemeClr val="dk1"/>
                </a:solidFill>
              </a:rPr>
              <a:t>).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>
                <a:solidFill>
                  <a:schemeClr val="dk1"/>
                </a:solidFill>
              </a:rPr>
              <a:t>Companies that make strong profits beat weak ones (</a:t>
            </a:r>
            <a:r>
              <a:rPr b="1" lang="en-US">
                <a:solidFill>
                  <a:schemeClr val="dk1"/>
                </a:solidFill>
              </a:rPr>
              <a:t>profitability</a:t>
            </a:r>
            <a:r>
              <a:rPr lang="en-US">
                <a:solidFill>
                  <a:schemeClr val="dk1"/>
                </a:solidFill>
              </a:rPr>
              <a:t>).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If you’re making money just by holding profitable, conservative firms, that’s </a:t>
            </a:r>
            <a:r>
              <a:rPr b="1" lang="en-US">
                <a:solidFill>
                  <a:schemeClr val="dk1"/>
                </a:solidFill>
              </a:rPr>
              <a:t>not skill</a:t>
            </a:r>
            <a:r>
              <a:rPr lang="en-US">
                <a:solidFill>
                  <a:schemeClr val="dk1"/>
                </a:solidFill>
              </a:rPr>
              <a:t>—that’s just loading on these factors.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Alpha here = did you earn money that can’t be explained by market, size, investment, or profitability?</a:t>
            </a:r>
            <a:br>
              <a:rPr b="1" lang="en-US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👉 Think of it like stripping excuses away: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CAPM says: </a:t>
            </a:r>
            <a:r>
              <a:rPr i="1" lang="en-US">
                <a:solidFill>
                  <a:schemeClr val="dk1"/>
                </a:solidFill>
              </a:rPr>
              <a:t>“You only beat the market if you dodge beta.”</a:t>
            </a:r>
            <a:br>
              <a:rPr i="1" lang="en-US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Fama-French says: </a:t>
            </a:r>
            <a:r>
              <a:rPr i="1" lang="en-US">
                <a:solidFill>
                  <a:schemeClr val="dk1"/>
                </a:solidFill>
              </a:rPr>
              <a:t>“Nope, also no extra points for picking small or cheap stocks.”</a:t>
            </a:r>
            <a:br>
              <a:rPr i="1" lang="en-US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Q-Factor says: </a:t>
            </a:r>
            <a:r>
              <a:rPr i="1" lang="en-US">
                <a:solidFill>
                  <a:schemeClr val="dk1"/>
                </a:solidFill>
              </a:rPr>
              <a:t>“And don’t act like buying profitable or conservative-investment firms is skill either.”</a:t>
            </a:r>
            <a:br>
              <a:rPr i="1" lang="en-US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g389615a1718_1_1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7afe67322b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g37afe67322b_1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6.jpg"/><Relationship Id="rId6" Type="http://schemas.openxmlformats.org/officeDocument/2006/relationships/image" Target="../media/image9.jpg"/><Relationship Id="rId7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 txBox="1"/>
          <p:nvPr/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Oswald"/>
              <a:buNone/>
            </a:pPr>
            <a:r>
              <a:t/>
            </a:r>
            <a:endParaRPr b="0" i="0" sz="8000" u="none" cap="none" strike="noStrike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4160475" y="3347925"/>
            <a:ext cx="3495300" cy="1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Georgio Najm </a:t>
            </a:r>
            <a:endParaRPr b="0" i="0" sz="3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endParaRPr b="0" i="0" sz="3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Tevin Parathattal</a:t>
            </a:r>
            <a:endParaRPr b="0" i="0" sz="3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82864"/>
              <a:buFont typeface="Arial"/>
              <a:buNone/>
            </a:pPr>
            <a:r>
              <a:rPr lang="en-US" sz="1968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October 6</a:t>
            </a:r>
            <a:r>
              <a:rPr b="0" i="0" lang="en-US" sz="1968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2025</a:t>
            </a:r>
            <a:endParaRPr b="0" i="0" sz="1968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448888" y="1122363"/>
            <a:ext cx="11294224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Oswald"/>
              <a:buNone/>
            </a:pPr>
            <a:r>
              <a:rPr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Downside Risk </a:t>
            </a:r>
            <a:endParaRPr b="0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green and gold coin with text and arrows&#10;&#10;AI-generated content may be incorrect." id="87" name="Google Shape;8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55412" y="3347937"/>
            <a:ext cx="2387700" cy="238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389615a1718_3_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93" name="Google Shape;93;g389615a1718_3_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89615a1718_3_29"/>
          <p:cNvSpPr txBox="1"/>
          <p:nvPr/>
        </p:nvSpPr>
        <p:spPr>
          <a:xfrm>
            <a:off x="3261600" y="1086625"/>
            <a:ext cx="5668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SPY vs SMIF Value at Risk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5" name="Google Shape;95;g389615a1718_3_29" title="Screenshot 2025-10-06 at 4.46.10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66750" y="2337850"/>
            <a:ext cx="8397874" cy="341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g381fe1c6a79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101" name="Google Shape;101;g381fe1c6a79_0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381fe1c6a79_0_5"/>
          <p:cNvSpPr txBox="1"/>
          <p:nvPr/>
        </p:nvSpPr>
        <p:spPr>
          <a:xfrm>
            <a:off x="3261600" y="1086625"/>
            <a:ext cx="5668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Downside Risk Matters?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g381fe1c6a79_0_5"/>
          <p:cNvSpPr txBox="1"/>
          <p:nvPr/>
        </p:nvSpPr>
        <p:spPr>
          <a:xfrm>
            <a:off x="1646525" y="2047800"/>
            <a:ext cx="92748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question: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investors really care about all volatility or just losses?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it matters: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 deviation and Sharpe ratio treat upside and downside the same, but upside volatility does not hurt.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Today’s agenda: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○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Downside Beta, Semi-Deviation, Sortino Ratio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○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 at Risk (VaR) and Conditional VaR (Expected Shortfall)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 for SMIF: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 risk framework that highlights true risks to the portfolio rather than noise from positive volatility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g381d67234f8_5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109" name="Google Shape;109;g381d67234f8_5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381d67234f8_5_0"/>
          <p:cNvSpPr txBox="1"/>
          <p:nvPr/>
        </p:nvSpPr>
        <p:spPr>
          <a:xfrm>
            <a:off x="3338600" y="1151975"/>
            <a:ext cx="4688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Downside Beta (𝜷</a:t>
            </a:r>
            <a:r>
              <a:rPr baseline="30000"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</a:t>
            </a: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g381d67234f8_5_0"/>
          <p:cNvSpPr txBox="1"/>
          <p:nvPr/>
        </p:nvSpPr>
        <p:spPr>
          <a:xfrm>
            <a:off x="2005050" y="2009675"/>
            <a:ext cx="81819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Definition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Sensitivity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of a stock/portfolio to the market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only when the market is down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Regular Beta: all market movements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Downside Beta: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focuses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on only losses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to understand how exposed an asset is in bear markets or downturns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g381d67234f8_5_0"/>
          <p:cNvSpPr txBox="1"/>
          <p:nvPr/>
        </p:nvSpPr>
        <p:spPr>
          <a:xfrm>
            <a:off x="1601325" y="3825875"/>
            <a:ext cx="182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(β‾) = 0.8</a:t>
            </a:r>
            <a:endParaRPr sz="2300"/>
          </a:p>
        </p:txBody>
      </p:sp>
      <p:sp>
        <p:nvSpPr>
          <p:cNvPr id="113" name="Google Shape;113;g381d67234f8_5_0"/>
          <p:cNvSpPr txBox="1"/>
          <p:nvPr/>
        </p:nvSpPr>
        <p:spPr>
          <a:xfrm>
            <a:off x="4936550" y="3790425"/>
            <a:ext cx="1492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(β‾) = 1</a:t>
            </a:r>
            <a:endParaRPr sz="2300">
              <a:solidFill>
                <a:schemeClr val="dk1"/>
              </a:solidFill>
            </a:endParaRPr>
          </a:p>
        </p:txBody>
      </p:sp>
      <p:sp>
        <p:nvSpPr>
          <p:cNvPr id="114" name="Google Shape;114;g381d67234f8_5_0"/>
          <p:cNvSpPr txBox="1"/>
          <p:nvPr/>
        </p:nvSpPr>
        <p:spPr>
          <a:xfrm>
            <a:off x="8586250" y="3825875"/>
            <a:ext cx="1492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(β‾) = 1.4</a:t>
            </a:r>
            <a:endParaRPr sz="2300">
              <a:solidFill>
                <a:schemeClr val="dk1"/>
              </a:solidFill>
            </a:endParaRPr>
          </a:p>
        </p:txBody>
      </p:sp>
      <p:pic>
        <p:nvPicPr>
          <p:cNvPr id="115" name="Google Shape;115;g381d67234f8_5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 rot="10461986">
            <a:off x="1397314" y="4395536"/>
            <a:ext cx="1777398" cy="1347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381d67234f8_5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 rot="10800000">
            <a:off x="4684400" y="4370349"/>
            <a:ext cx="1744350" cy="139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g381d67234f8_5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flipH="1" rot="10218286">
            <a:off x="8254801" y="4324593"/>
            <a:ext cx="1820424" cy="165131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81d67234f8_5_0"/>
          <p:cNvSpPr txBox="1"/>
          <p:nvPr/>
        </p:nvSpPr>
        <p:spPr>
          <a:xfrm>
            <a:off x="1185975" y="5809125"/>
            <a:ext cx="2658600" cy="7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Less Volatile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81d67234f8_5_0"/>
          <p:cNvSpPr txBox="1"/>
          <p:nvPr/>
        </p:nvSpPr>
        <p:spPr>
          <a:xfrm>
            <a:off x="3865163" y="5809125"/>
            <a:ext cx="3480600" cy="7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Relative to market (S&amp;P 500)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g381d67234f8_5_0"/>
          <p:cNvSpPr txBox="1"/>
          <p:nvPr/>
        </p:nvSpPr>
        <p:spPr>
          <a:xfrm>
            <a:off x="8211375" y="5809100"/>
            <a:ext cx="3480600" cy="7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volatile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g381d67234f8_5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126" name="Google Shape;126;g381d67234f8_5_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381d67234f8_5_10"/>
          <p:cNvSpPr txBox="1"/>
          <p:nvPr/>
        </p:nvSpPr>
        <p:spPr>
          <a:xfrm>
            <a:off x="2086200" y="1149475"/>
            <a:ext cx="801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 Deviation vs Semi-Deviation   </a:t>
            </a:r>
            <a:endParaRPr b="0" baseline="3000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g381d67234f8_5_10"/>
          <p:cNvSpPr txBox="1"/>
          <p:nvPr/>
        </p:nvSpPr>
        <p:spPr>
          <a:xfrm>
            <a:off x="2488825" y="5041800"/>
            <a:ext cx="81819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Standard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deviation treats all volatility equally, good or bad.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Semi-deviation isolates performance below the mean or target (bad volatility)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Highlights the volatility investors actually care about – losses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Semi-deviation forms a basis for a more realistic risk measure like the Sortino Ratio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9" name="Google Shape;129;g381d67234f8_5_10" title="Screenshot 2025-10-06 at 3.11.58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15350" y="1693000"/>
            <a:ext cx="3254451" cy="329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381d67234f8_5_10" title="Screenshot 2025-10-06 at 3.11.58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41125" y="1693000"/>
            <a:ext cx="3254451" cy="32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81d67234f8_5_10"/>
          <p:cNvSpPr/>
          <p:nvPr/>
        </p:nvSpPr>
        <p:spPr>
          <a:xfrm>
            <a:off x="6963750" y="2321900"/>
            <a:ext cx="1299000" cy="2091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38100" endA="0" endPos="30000" fadeDir="5400012" kx="0" rotWithShape="0" algn="bl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g381d67234f8_5_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137" name="Google Shape;137;g381d67234f8_5_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81d67234f8_5_38"/>
          <p:cNvSpPr txBox="1"/>
          <p:nvPr/>
        </p:nvSpPr>
        <p:spPr>
          <a:xfrm>
            <a:off x="2219675" y="815700"/>
            <a:ext cx="8439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Sortino Ratio – Reward for Downside Risk</a:t>
            </a:r>
            <a:endParaRPr b="0" baseline="3000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g381d67234f8_5_38"/>
          <p:cNvSpPr txBox="1"/>
          <p:nvPr/>
        </p:nvSpPr>
        <p:spPr>
          <a:xfrm>
            <a:off x="2990850" y="3961813"/>
            <a:ext cx="81819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i="1" lang="en-US" sz="16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i="1" lang="en-US" sz="16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Actual or expected portfolio return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●"/>
            </a:pPr>
            <a:r>
              <a:rPr i="1" lang="en-US" sz="16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i="1" lang="en-US" sz="1600">
                <a:latin typeface="Times New Roman"/>
                <a:ea typeface="Times New Roman"/>
                <a:cs typeface="Times New Roman"/>
                <a:sym typeface="Times New Roman"/>
              </a:rPr>
              <a:t>f 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Risk-Free Rate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Semi-σ = semi-deviation (measures losses only)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Measures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return earned per unit of downside risk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Unlike Sharpe, ignores upside volatility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g381d67234f8_5_38"/>
          <p:cNvSpPr txBox="1"/>
          <p:nvPr/>
        </p:nvSpPr>
        <p:spPr>
          <a:xfrm>
            <a:off x="3057225" y="1400700"/>
            <a:ext cx="5511900" cy="23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SR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 </a:t>
            </a:r>
            <a:r>
              <a:rPr lang="en-US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⎯⎯⎯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81d67234f8_5_38"/>
          <p:cNvSpPr txBox="1"/>
          <p:nvPr/>
        </p:nvSpPr>
        <p:spPr>
          <a:xfrm>
            <a:off x="5476075" y="1894138"/>
            <a:ext cx="16473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</a:t>
            </a:r>
            <a:r>
              <a:rPr baseline="-25000" i="1" lang="en-US" sz="3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 </a:t>
            </a:r>
            <a:r>
              <a:rPr i="1" lang="en-US" sz="3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3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- </a:t>
            </a:r>
            <a:r>
              <a:rPr i="1" lang="en-US" sz="3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</a:t>
            </a:r>
            <a:r>
              <a:rPr baseline="-25000" i="1" lang="en-US" sz="3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</a:t>
            </a:r>
            <a:endParaRPr baseline="-25000" i="1" sz="31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2" name="Google Shape;142;g381d67234f8_5_38"/>
          <p:cNvSpPr txBox="1"/>
          <p:nvPr/>
        </p:nvSpPr>
        <p:spPr>
          <a:xfrm>
            <a:off x="5476075" y="2713400"/>
            <a:ext cx="14304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Semi-σ</a:t>
            </a:r>
            <a:endParaRPr sz="2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388fd707c65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148" name="Google Shape;148;g388fd707c65_0_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388fd707c65_0_12"/>
          <p:cNvSpPr txBox="1"/>
          <p:nvPr/>
        </p:nvSpPr>
        <p:spPr>
          <a:xfrm>
            <a:off x="563650" y="1051625"/>
            <a:ext cx="10809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Conditional Value at Risk (CVaR)</a:t>
            </a:r>
            <a:endParaRPr b="0" baseline="3000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g388fd707c65_0_12"/>
          <p:cNvSpPr txBox="1"/>
          <p:nvPr/>
        </p:nvSpPr>
        <p:spPr>
          <a:xfrm>
            <a:off x="2171600" y="2093313"/>
            <a:ext cx="92937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Aka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Expected Shortfall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– measures are average loss beyond the VaR cutoff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Example: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1828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95% VaR (-$8k)=  “We’re 95% confident we won’t lose more than this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1828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-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CVaR = (-$12k) = “But if we do fall into that worst 5%, here is the average damage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Takeaway: VaR shows the edge, CVaR shows how far we fall once past it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1" name="Google Shape;151;g388fd707c65_0_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39750" y="4167663"/>
            <a:ext cx="44577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g389615a1718_3_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157" name="Google Shape;157;g389615a1718_3_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389615a1718_3_42"/>
          <p:cNvSpPr txBox="1"/>
          <p:nvPr/>
        </p:nvSpPr>
        <p:spPr>
          <a:xfrm>
            <a:off x="563650" y="1051625"/>
            <a:ext cx="10809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SMIF Portfolio Risk Metrics - Semi-Std Dev, Sortino, Downside Beta, Expected Shortfall</a:t>
            </a:r>
            <a:endParaRPr b="0" baseline="3000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9" name="Google Shape;159;g389615a1718_3_42" title="Screenshot 2025-10-06 at 4.47.48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281325"/>
            <a:ext cx="11620500" cy="253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g389615a1718_3_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165" name="Google Shape;165;g389615a1718_3_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389615a1718_3_61"/>
          <p:cNvSpPr txBox="1"/>
          <p:nvPr/>
        </p:nvSpPr>
        <p:spPr>
          <a:xfrm>
            <a:off x="563650" y="1051625"/>
            <a:ext cx="10809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Diversification Metric - Herfindahl–Hirschman Index</a:t>
            </a:r>
            <a:endParaRPr b="0" baseline="3000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7" name="Google Shape;167;g389615a1718_3_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16488" y="2511300"/>
            <a:ext cx="2904225" cy="131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389615a1718_3_61"/>
          <p:cNvSpPr txBox="1"/>
          <p:nvPr/>
        </p:nvSpPr>
        <p:spPr>
          <a:xfrm>
            <a:off x="2005050" y="3821888"/>
            <a:ext cx="81819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Measures concentration of portfolio or market exposure.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Range: 0–1 → lower = more diversified, higher = more concentrated.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Interpreting the Number: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0.25 → concentrated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0.05–0.25 → moderate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&lt;0.05 → well diversified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Effective N = 1/HHI → number of “equal-weight” holdings.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Used to gauge diversification risk or market dominance.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9" name="Google Shape;169;g389615a1718_3_61" title="Screenshot 2025-10-06 at 5.02.10 PM.png"/>
          <p:cNvPicPr preferRelativeResize="0"/>
          <p:nvPr/>
        </p:nvPicPr>
        <p:blipFill rotWithShape="1">
          <a:blip r:embed="rId6">
            <a:alphaModFix/>
          </a:blip>
          <a:srcRect b="12618" l="0" r="0" t="17587"/>
          <a:stretch/>
        </p:blipFill>
        <p:spPr>
          <a:xfrm>
            <a:off x="210250" y="1784050"/>
            <a:ext cx="11163300" cy="58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g389615a1718_1_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175" name="Google Shape;175;g389615a1718_1_1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389615a1718_1_123"/>
          <p:cNvSpPr txBox="1"/>
          <p:nvPr/>
        </p:nvSpPr>
        <p:spPr>
          <a:xfrm>
            <a:off x="3194838" y="1162475"/>
            <a:ext cx="5802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CAPM Alpha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g389615a1718_1_123"/>
          <p:cNvSpPr txBox="1"/>
          <p:nvPr/>
        </p:nvSpPr>
        <p:spPr>
          <a:xfrm>
            <a:off x="2005050" y="4252500"/>
            <a:ext cx="8181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g389615a1718_1_123"/>
          <p:cNvSpPr txBox="1"/>
          <p:nvPr/>
        </p:nvSpPr>
        <p:spPr>
          <a:xfrm>
            <a:off x="2005050" y="3741650"/>
            <a:ext cx="81819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Alpha ≈ +2.1% annualized → Slight positive excess return after adjusting for market risk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Beta ≈ 0.78 → Below-market volatility; portfolio moves less than the market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R² ≈ 0.94 → Very high market correlation; returns are mostly explained by market movements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9" name="Google Shape;179;g389615a1718_1_123" title="Screenshot 2025-10-06 at 4.25.57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2864" y="2239775"/>
            <a:ext cx="10586261" cy="107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g389615a1718_1_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185" name="Google Shape;185;g389615a1718_1_1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g389615a1718_1_132"/>
          <p:cNvSpPr txBox="1"/>
          <p:nvPr/>
        </p:nvSpPr>
        <p:spPr>
          <a:xfrm>
            <a:off x="3194838" y="833550"/>
            <a:ext cx="58023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Quick Introduction to the Fama-French Models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g389615a1718_1_132"/>
          <p:cNvSpPr txBox="1"/>
          <p:nvPr/>
        </p:nvSpPr>
        <p:spPr>
          <a:xfrm>
            <a:off x="1710338" y="2086800"/>
            <a:ext cx="40623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Fama–French 3-Factor (FF3)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Market (MKT-RF): The excess return of the market over risk-free.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Size (SMB = Small Minus Big): Small-cap stocks outperform large-caps, on average.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Value (HML = High Minus Low): Value stocks (high book-to-market) outperform growth stocks.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g389615a1718_1_132"/>
          <p:cNvSpPr txBox="1"/>
          <p:nvPr/>
        </p:nvSpPr>
        <p:spPr>
          <a:xfrm>
            <a:off x="6405363" y="2086800"/>
            <a:ext cx="40623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Fama–French 5-Factor (FF5)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Profitability (RMW = Robust Minus Weak): Profitable firms outperform weak ones.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Investment (CMA = Conservative Minus Aggressive): Firms that invest conservatively outperform heavy-investment firms.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g389615a1718_1_132"/>
          <p:cNvSpPr txBox="1"/>
          <p:nvPr/>
        </p:nvSpPr>
        <p:spPr>
          <a:xfrm>
            <a:off x="2296050" y="5620100"/>
            <a:ext cx="7599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we control for common knowledge, how good are you? 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g389615a1718_1_1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195" name="Google Shape;195;g389615a1718_1_1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g389615a1718_1_141"/>
          <p:cNvSpPr txBox="1"/>
          <p:nvPr/>
        </p:nvSpPr>
        <p:spPr>
          <a:xfrm>
            <a:off x="3194838" y="1162475"/>
            <a:ext cx="5802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Fama-French 3 Factor Model</a:t>
            </a:r>
            <a:endParaRPr baseline="3000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g389615a1718_1_141"/>
          <p:cNvSpPr txBox="1"/>
          <p:nvPr/>
        </p:nvSpPr>
        <p:spPr>
          <a:xfrm>
            <a:off x="1970050" y="2985875"/>
            <a:ext cx="81819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Alpha ≈ –1.6% annualized → Underperforms once size/value factors are controlled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MKT–RF beta ≈ 0.65 → Still strongly tied to the overall market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SMB beta ≈ +0.48 → Tilted toward small-cap/growth exposure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HML beta ≈ –0.27 → Tilted away from value (favoring growth stocks)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R² ≈ 0.65 → Lower variance explained than CAPM → factor tilts matter more than market exposure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Interpretation: Once size and value factors are included, “alpha” effectively disappears → performance reflects style exposure (growth/small-cap tilt) rather than stock-picking skill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8" name="Google Shape;198;g389615a1718_1_141" title="Screenshot 2025-10-06 at 4.22.01 PM.png"/>
          <p:cNvPicPr preferRelativeResize="0"/>
          <p:nvPr/>
        </p:nvPicPr>
        <p:blipFill rotWithShape="1">
          <a:blip r:embed="rId5">
            <a:alphaModFix/>
          </a:blip>
          <a:srcRect b="0" l="-1430" r="0" t="0"/>
          <a:stretch/>
        </p:blipFill>
        <p:spPr>
          <a:xfrm>
            <a:off x="765108" y="1952625"/>
            <a:ext cx="10661783" cy="12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g389615a1718_1_1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204" name="Google Shape;204;g389615a1718_1_1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389615a1718_1_149"/>
          <p:cNvSpPr txBox="1"/>
          <p:nvPr/>
        </p:nvSpPr>
        <p:spPr>
          <a:xfrm>
            <a:off x="3194838" y="1162475"/>
            <a:ext cx="5802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Fama-French 5 Factor Model</a:t>
            </a:r>
            <a:endParaRPr baseline="3000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g389615a1718_1_149"/>
          <p:cNvSpPr txBox="1"/>
          <p:nvPr/>
        </p:nvSpPr>
        <p:spPr>
          <a:xfrm>
            <a:off x="2005050" y="3336325"/>
            <a:ext cx="81819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Alpha ≈ –5% annualized → Underperforms once size, value, profitability, and investment tilts are controlled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MKT–RF β ≈ 0.73 → Still highly correlated with the overall market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SMB β ≈ +0.41 → Tilt toward smaller-cap stocks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HML β ≈ –0.90 → Strong growth bias (anti-value tilt)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RMW β ≈ –0.21 → Low-profitability exposure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CMA β ≈ +0.20 → Slightly conservative investment tilt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R² ≈ 0.65 → Most returns explained by common factors, not active stock-picking skill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7" name="Google Shape;207;g389615a1718_1_149" title="Screenshot 2025-10-06 at 4.23.54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0950" y="1899875"/>
            <a:ext cx="10370099" cy="128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g389615a1718_1_1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213" name="Google Shape;213;g389615a1718_1_1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389615a1718_1_157"/>
          <p:cNvSpPr txBox="1"/>
          <p:nvPr/>
        </p:nvSpPr>
        <p:spPr>
          <a:xfrm>
            <a:off x="3194838" y="1162475"/>
            <a:ext cx="5802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Q-Factor Model</a:t>
            </a:r>
            <a:endParaRPr baseline="3000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g389615a1718_1_157"/>
          <p:cNvSpPr txBox="1"/>
          <p:nvPr/>
        </p:nvSpPr>
        <p:spPr>
          <a:xfrm>
            <a:off x="2005050" y="2498225"/>
            <a:ext cx="81819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Developed by Hou, Xue, and Zhang (2015) as an alternative to Fama-French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Grounded in investment-based asset pricing theory rather than pure empirical anomalies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Four factors: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Market (broad market excess return)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Size (small minus big)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Investment (conservative vs. aggressive firm investment)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Profitability (robust vs. weak operating profitability)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Interprets anomalies as outcomes of firm decisions on investment and profitability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Claims greater parsimony and theoretical foundation than Fama-French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Alpha represents true stock-picking skill after controlling for these economic drivers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g389615a1718_1_1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221" name="Google Shape;221;g389615a1718_1_1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g389615a1718_1_164"/>
          <p:cNvSpPr txBox="1"/>
          <p:nvPr/>
        </p:nvSpPr>
        <p:spPr>
          <a:xfrm>
            <a:off x="3194838" y="1162475"/>
            <a:ext cx="5802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Q-Factor Model</a:t>
            </a:r>
            <a:endParaRPr baseline="3000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g389615a1718_1_164"/>
          <p:cNvSpPr txBox="1"/>
          <p:nvPr/>
        </p:nvSpPr>
        <p:spPr>
          <a:xfrm>
            <a:off x="1163400" y="3113425"/>
            <a:ext cx="9865200" cy="26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Alpha ≈ –1.6% annualized → Underperforms after controlling for investment and profitability factors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MKT β ≈ 0.73 → Still tied to the overall market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ME β ≈ +0.33 → Slight small-cap tilt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IA β ≈ +0.76 → Strong tilt toward firms with high investment activity (i.e., aggressive reinvestors)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ROE β ≈ –0.30 → Tilt away from high-profitability firms (leaning toward low-ROE/growth names)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R² ≈ 0.07 → Very low explanatory power → returns largely driven by idiosyncratic or style-specific factors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Interpretation: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○"/>
            </a:pPr>
            <a:r>
              <a:rPr lang="en-US" sz="1300">
                <a:latin typeface="Times New Roman"/>
                <a:ea typeface="Times New Roman"/>
                <a:cs typeface="Times New Roman"/>
                <a:sym typeface="Times New Roman"/>
              </a:rPr>
              <a:t>Once Q-factor controls (market, size, investment, profitability) are applied, alpha turns negative — indicating performance is not explained by skill but by exposure to low-profitability, high-investment growth stocks.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4" name="Google Shape;224;g389615a1718_1_164" title="Screenshot 2025-10-06 at 4.30.04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85638" y="1747475"/>
            <a:ext cx="9020718" cy="9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g37afe67322b_1_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5620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and gold coin with text and arrows&#10;&#10;AI-generated content may be incorrect." id="230" name="Google Shape;230;g37afe67322b_1_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6373" y="5440763"/>
            <a:ext cx="1492078" cy="1492078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g37afe67322b_1_40"/>
          <p:cNvSpPr txBox="1"/>
          <p:nvPr/>
        </p:nvSpPr>
        <p:spPr>
          <a:xfrm>
            <a:off x="0" y="72915"/>
            <a:ext cx="1219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7afe67322b_1_40"/>
          <p:cNvSpPr txBox="1"/>
          <p:nvPr/>
        </p:nvSpPr>
        <p:spPr>
          <a:xfrm>
            <a:off x="-501000" y="2408550"/>
            <a:ext cx="13194000" cy="20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8475" lIns="128475" spcFirstLastPara="1" rIns="128475" wrap="square" tIns="128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1"/>
              <a:buFont typeface="Arial"/>
              <a:buNone/>
            </a:pPr>
            <a:r>
              <a:rPr b="0" i="0" lang="en-US" sz="10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10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2021-06-07T21:42:08Z</dcterms:created>
  <dc:creator>Microsoft Office User</dc:creator>
</cp:coreProperties>
</file>