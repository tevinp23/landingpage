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Oswald"/>
      <p:regular r:id="rId18"/>
      <p:bold r:id="rId19"/>
    </p:embeddedFont>
    <p:embeddedFont>
      <p:font typeface="Cambria Math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48YV60EOlFnbuIUUXlBS3nL9j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F16E17-5A11-4425-9D58-876F2FC761B2}">
  <a:tblStyle styleId="{21F16E17-5A11-4425-9D58-876F2FC761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mbriaMath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bold.fntdata"/><Relationship Id="rId6" Type="http://schemas.openxmlformats.org/officeDocument/2006/relationships/slide" Target="slides/slide1.xml"/><Relationship Id="rId18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1fe1c6a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Once we calculate portfolio performance, we still need to understand what drove our results. 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Attribution separates skill from market risk — showing if returns came from active decisions or  market movement.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It identifies which decisions added value and which didn’t add value.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And it helps us improve — by linking performance to strategy.</a:t>
            </a:r>
            <a:endParaRPr/>
          </a:p>
        </p:txBody>
      </p:sp>
      <p:sp>
        <p:nvSpPr>
          <p:cNvPr id="90" name="Google Shape;90;g381fe1c6a7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e2d896d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Attribution breaks down total excess return — that’s the difference between the portfolio and the benchmark.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It shows where our returns came from by looking at three effects: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chemeClr val="dk1"/>
                </a:solidFill>
              </a:rPr>
              <a:t>Allocation effect:</a:t>
            </a:r>
            <a:r>
              <a:rPr lang="en-US">
                <a:solidFill>
                  <a:schemeClr val="dk1"/>
                </a:solidFill>
              </a:rPr>
              <a:t> How our sector weights differ from the benchmark.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chemeClr val="dk1"/>
                </a:solidFill>
              </a:rPr>
              <a:t>Selection effect:</a:t>
            </a:r>
            <a:r>
              <a:rPr lang="en-US">
                <a:solidFill>
                  <a:schemeClr val="dk1"/>
                </a:solidFill>
              </a:rPr>
              <a:t> How our stock picks performed within each sector.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chemeClr val="dk1"/>
                </a:solidFill>
              </a:rPr>
              <a:t>Interaction:</a:t>
            </a:r>
            <a:r>
              <a:rPr lang="en-US">
                <a:solidFill>
                  <a:schemeClr val="dk1"/>
                </a:solidFill>
              </a:rPr>
              <a:t> The combined influence of both weighting and selection.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Together, these three explain every basis point of excess return 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8e2d896db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b2339a3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Brinson–Fachler (1985) Model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Developed by Gary Brinson and Nimrod Fachler in 1985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This model is the analytical foundation for modern performance attribution.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It breaks the portfolio’s excess return into allocation, selection, and interaction — but with one key difference.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allocation term compares each sector’s return to the total benchmark return (Rᴮ) — not just its own sector benchmark.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That makes it a relative model — it rewards overweighting sectors that outperformed the overall market, and penalizes those that lagged.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This is the most accurate version of the Brinson Model because it looks at how each </a:t>
            </a:r>
            <a:r>
              <a:rPr lang="en-US">
                <a:solidFill>
                  <a:schemeClr val="dk1"/>
                </a:solidFill>
              </a:rPr>
              <a:t>sector performed compared to the whole market, not just within itself.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9b2339a3a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b2339a3a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Brinson–Hood–Beebower model, or BHB, was introduced one year after the Fachler model.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It uses the same framework — allocation, selection, and interaction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In this version, the allocation effect uses each sector’s own benchmark return (bᵢ) instead of comparing it to the total benchmark return (Rᴮ).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That makes it an absolute model — it looks at how each sector performed on its own, not compared to the overall market.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Did we overweight sectors that performed well?’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selection and interaction effects stay the same as in Fachler.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This version is easier to explain and interpret, which made it more popular for presentations and client reporting.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Even though it’s not as exact as the Fachler version, both models tell the same story — where our portfolio’s returns came from.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9b2339a3a4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e2d896db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8e2d896db8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b6c42f0f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b6c42f0fc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6c42f0f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b6c42f0fc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b6c42f0f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b6c42f0f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b6c42f0fc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b6c42f0fc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b6c42f0fc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9b6c42f0fc_1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afe67322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7afe67322b_1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Oswald"/>
              <a:buNone/>
            </a:pPr>
            <a:r>
              <a:t/>
            </a:r>
            <a:endParaRPr b="0" i="0" sz="80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4160475" y="3347925"/>
            <a:ext cx="3495300" cy="1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Georgio Najm </a:t>
            </a:r>
            <a:endParaRPr b="0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b="0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Tevin Parathattal</a:t>
            </a:r>
            <a:endParaRPr b="0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82864"/>
              <a:buFont typeface="Arial"/>
              <a:buNone/>
            </a:pPr>
            <a:r>
              <a:rPr b="0" i="0" lang="en-US" sz="1968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October </a:t>
            </a:r>
            <a:r>
              <a:rPr lang="en-US" sz="1968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b="0" i="0" lang="en-US" sz="1968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2025</a:t>
            </a:r>
            <a:endParaRPr b="0" i="0" sz="196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448888" y="1122363"/>
            <a:ext cx="11294224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Oswald"/>
              <a:buNone/>
            </a:pPr>
            <a:r>
              <a:rPr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Attribution</a:t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and gold coin with text and arrows&#10;&#10;AI-generated content may be incorrect." id="87" name="Google Shape;8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5412" y="3347937"/>
            <a:ext cx="2387700" cy="23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81fe1c6a79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93" name="Google Shape;93;g381fe1c6a79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81fe1c6a79_0_5"/>
          <p:cNvSpPr txBox="1"/>
          <p:nvPr/>
        </p:nvSpPr>
        <p:spPr>
          <a:xfrm>
            <a:off x="2453400" y="721700"/>
            <a:ext cx="728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Attribution 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Matters?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g381fe1c6a79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0475" y="1306700"/>
            <a:ext cx="4078550" cy="244713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81fe1c6a79_0_5"/>
          <p:cNvSpPr txBox="1"/>
          <p:nvPr/>
        </p:nvSpPr>
        <p:spPr>
          <a:xfrm>
            <a:off x="2453400" y="3753825"/>
            <a:ext cx="92748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mbria Math"/>
              <a:buChar char="●"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After measuring 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performance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, attribution tells us why those results really happened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mbria Math"/>
              <a:buChar char="●"/>
            </a:pPr>
            <a:r>
              <a:rPr lang="en-US" sz="16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Why it matters: 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- Shows whether outperformance came from strategy or market exposure  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- Separates skill from luck  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- Reveals which decisions added or hurt performance 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mbria Math"/>
              <a:buChar char="●"/>
            </a:pPr>
            <a:r>
              <a:rPr lang="en-US" sz="16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Goal for SMIF: 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Connect results to measurable sources of return</a:t>
            </a:r>
            <a:endParaRPr sz="1600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8e2d896db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02" name="Google Shape;102;g38e2d896db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8e2d896db8_0_0"/>
          <p:cNvSpPr txBox="1"/>
          <p:nvPr/>
        </p:nvSpPr>
        <p:spPr>
          <a:xfrm>
            <a:off x="2453400" y="721175"/>
            <a:ext cx="728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is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Attribution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g38e2d896db8_0_0"/>
          <p:cNvSpPr txBox="1"/>
          <p:nvPr/>
        </p:nvSpPr>
        <p:spPr>
          <a:xfrm>
            <a:off x="1646525" y="2099700"/>
            <a:ext cx="927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g38e2d896db8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7275" y="1306175"/>
            <a:ext cx="622225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8e2d896db8_0_0"/>
          <p:cNvSpPr txBox="1"/>
          <p:nvPr/>
        </p:nvSpPr>
        <p:spPr>
          <a:xfrm>
            <a:off x="1132925" y="3995500"/>
            <a:ext cx="10997100" cy="27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Performance attribution</a:t>
            </a: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explains why a portfolio’s return differs from its benchmark by breaking excess return into three effects: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 Math"/>
              <a:buChar char="●"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Allocation Effect – Measures the performance impact resulting from overweighting or underweighting specific sectors and or asset classes relative to the benchmark.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 Math"/>
              <a:buChar char="●"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Selection Effect – Quantifies the value added or subtracted by selecting specific securities within each sector and or asset class compared to the benchmark.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 Math"/>
              <a:buChar char="●"/>
            </a:pPr>
            <a:r>
              <a:rPr lang="en-US" sz="1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Interaction Effect – Combined influence of both allocation and selection effect.</a:t>
            </a:r>
            <a:endParaRPr sz="1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9b2339a3a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9b2339a3a4_0_0"/>
          <p:cNvSpPr txBox="1"/>
          <p:nvPr/>
        </p:nvSpPr>
        <p:spPr>
          <a:xfrm>
            <a:off x="472175" y="1010575"/>
            <a:ext cx="5702700" cy="3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(w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- W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)(b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- R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Allocation Effect = [Portfolio weight – Benchmark weight] × [(Benchmark return – Total benchmark return)]</a:t>
            </a:r>
            <a:endParaRPr sz="1800">
              <a:solidFill>
                <a:srgbClr val="FF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w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(r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- b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Selection Effect = [Portfolio weight] × [Portfolio return – Benchmark return]</a:t>
            </a:r>
            <a:endParaRPr sz="1800">
              <a:solidFill>
                <a:srgbClr val="FF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(w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- W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)(r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- b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Interaction Effect= [Portfolio weight – Benchmark weight] × [Portfolio return – Benchmark return]</a:t>
            </a:r>
            <a:endParaRPr sz="1800">
              <a:solidFill>
                <a:srgbClr val="FF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 green and gold coin with text and arrows&#10;&#10;AI-generated content may be incorrect." id="113" name="Google Shape;113;g39b2339a3a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9b2339a3a4_0_0"/>
          <p:cNvSpPr txBox="1"/>
          <p:nvPr/>
        </p:nvSpPr>
        <p:spPr>
          <a:xfrm>
            <a:off x="2453400" y="562038"/>
            <a:ext cx="728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Brinson-Fachler Model (1985)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g39b2339a3a4_0_0"/>
          <p:cNvSpPr txBox="1"/>
          <p:nvPr/>
        </p:nvSpPr>
        <p:spPr>
          <a:xfrm>
            <a:off x="472175" y="4822475"/>
            <a:ext cx="31368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wᵢ = portfolio weight  </a:t>
            </a:r>
            <a:endParaRPr sz="17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Wᵢ = benchmark weight  </a:t>
            </a:r>
            <a:endParaRPr sz="17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rᵢ = portfolio return  </a:t>
            </a:r>
            <a:endParaRPr sz="17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bᵢ = benchmark return  </a:t>
            </a:r>
            <a:endParaRPr sz="17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to</a:t>
            </a: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tal benchmark</a:t>
            </a:r>
            <a:endParaRPr sz="17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6" name="Google Shape;116;g39b2339a3a4_0_0"/>
          <p:cNvSpPr txBox="1"/>
          <p:nvPr/>
        </p:nvSpPr>
        <p:spPr>
          <a:xfrm>
            <a:off x="6174875" y="1147050"/>
            <a:ext cx="4992300" cy="51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 Math"/>
              <a:buChar char="●"/>
            </a:pP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 Brinson–Fachler (BF) model refines the original attribution framework.</a:t>
            </a:r>
            <a:b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</a:b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 Math"/>
              <a:buChar char="●"/>
            </a:pP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It measures allocation, selection, and interaction effects, but adjusts the allocation effect to compare each sector’s return to the total benchmark return (R</a:t>
            </a:r>
            <a:r>
              <a:rPr baseline="-25000"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b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</a:b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 Math"/>
              <a:buChar char="●"/>
            </a:pP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This makes it a relative attribution model – evaluating whether managers overweighted sectors that outperformed the benchmark overall.</a:t>
            </a:r>
            <a:b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</a:b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 Math"/>
              <a:buChar char="●"/>
            </a:pP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 allocation effect rewards overweighting outperforming sectors and penalizes overweighting underperforming ones.</a:t>
            </a:r>
            <a:b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</a:b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 Math"/>
              <a:buChar char="●"/>
            </a:pP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 selection and interaction effects are identical to the BHB model.</a:t>
            </a:r>
            <a:b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</a:b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 Math"/>
              <a:buChar char="●"/>
            </a:pP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Because the BF model evaluates returns on a relative basis, it provides a more accurate measure of the manager’s active decisions.</a:t>
            </a: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9b2339a3a4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9b2339a3a4_0_13"/>
          <p:cNvSpPr txBox="1"/>
          <p:nvPr/>
        </p:nvSpPr>
        <p:spPr>
          <a:xfrm>
            <a:off x="527000" y="1076275"/>
            <a:ext cx="5489100" cy="3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(w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- W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Allocation Effect= [Portfolio weight − Benchmark weight] × [Benchmark return]</a:t>
            </a:r>
            <a:endParaRPr sz="1800">
              <a:solidFill>
                <a:srgbClr val="FF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w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(r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- b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Selection Effect = [Portfolio weight] × [Portfolio return – Benchmark return]</a:t>
            </a:r>
            <a:endParaRPr sz="1800">
              <a:solidFill>
                <a:srgbClr val="FF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(w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- W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)(r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- b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Interaction Effect= [Portfolio weight – Benchmark weight] × [Portfolio return – Benchmark return]</a:t>
            </a:r>
            <a:endParaRPr sz="1800">
              <a:solidFill>
                <a:srgbClr val="FF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 green and gold coin with text and arrows&#10;&#10;AI-generated content may be incorrect." id="123" name="Google Shape;123;g39b2339a3a4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9b2339a3a4_0_13"/>
          <p:cNvSpPr txBox="1"/>
          <p:nvPr/>
        </p:nvSpPr>
        <p:spPr>
          <a:xfrm>
            <a:off x="2272750" y="562050"/>
            <a:ext cx="8188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Brinson-Hood-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Beebower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(1986)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9b2339a3a4_0_13"/>
          <p:cNvSpPr txBox="1"/>
          <p:nvPr/>
        </p:nvSpPr>
        <p:spPr>
          <a:xfrm>
            <a:off x="527000" y="4401200"/>
            <a:ext cx="31368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wᵢ = portfolio weight  </a:t>
            </a:r>
            <a:endParaRPr sz="17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Wᵢ = benchmark weight  </a:t>
            </a:r>
            <a:endParaRPr sz="17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rᵢ = portfolio return  </a:t>
            </a:r>
            <a:endParaRPr sz="17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bᵢ = benchmark return  </a:t>
            </a:r>
            <a:endParaRPr sz="17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17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total benchmark</a:t>
            </a:r>
            <a:endParaRPr sz="17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6" name="Google Shape;126;g39b2339a3a4_0_13"/>
          <p:cNvSpPr txBox="1"/>
          <p:nvPr/>
        </p:nvSpPr>
        <p:spPr>
          <a:xfrm>
            <a:off x="6109150" y="1330225"/>
            <a:ext cx="5489100" cy="50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 </a:t>
            </a:r>
            <a:r>
              <a:rPr b="1"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Brinson–Hood–Beebower (BHB)</a:t>
            </a: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model simplifies the Fachler version.</a:t>
            </a: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 Math"/>
              <a:buChar char="●"/>
            </a:pP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Uses each sector’s own benchmark return (bᵢ) rather than the total benchmark return (R</a:t>
            </a:r>
            <a:r>
              <a:rPr baseline="-25000"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 Math"/>
              <a:buChar char="●"/>
            </a:pP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This makes the model easier to compute and explain, especially for client communication.</a:t>
            </a: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 Math"/>
              <a:buChar char="●"/>
            </a:pP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 allocation effect now measures whether the manager </a:t>
            </a: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overweighted</a:t>
            </a: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sectors that had strong absolute returns, not just those that outperformed the market.</a:t>
            </a: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 Math"/>
              <a:buChar char="●"/>
            </a:pP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 selection and interaction effects are defined the same way as in the BF model.</a:t>
            </a: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 Math"/>
              <a:buChar char="●"/>
            </a:pPr>
            <a:r>
              <a:rPr lang="en-US" sz="15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Although slightly less precise, the BHB model became the industry standard for reporting performance attribution due to its simplicity and clarity.</a:t>
            </a:r>
            <a:endParaRPr sz="15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8e2d896db8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32" name="Google Shape;132;g38e2d896db8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8e2d896db8_0_14"/>
          <p:cNvSpPr txBox="1"/>
          <p:nvPr/>
        </p:nvSpPr>
        <p:spPr>
          <a:xfrm>
            <a:off x="2453400" y="862900"/>
            <a:ext cx="728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Equities into Sectors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8e2d896db8_0_14"/>
          <p:cNvSpPr txBox="1"/>
          <p:nvPr/>
        </p:nvSpPr>
        <p:spPr>
          <a:xfrm>
            <a:off x="1646525" y="2099700"/>
            <a:ext cx="927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5" name="Google Shape;135;g38e2d896db8_0_14"/>
          <p:cNvGraphicFramePr/>
          <p:nvPr/>
        </p:nvGraphicFramePr>
        <p:xfrm>
          <a:off x="1215713" y="162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{21F16E17-5A11-4425-9D58-876F2FC761B2}</a:tableStyleId>
              </a:tblPr>
              <a:tblGrid>
                <a:gridCol w="3253525"/>
                <a:gridCol w="3253525"/>
                <a:gridCol w="3253525"/>
              </a:tblGrid>
              <a:tr h="28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Sector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Holdings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Benchmark ETF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Communication Services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META, 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XLC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Consumer Discretionary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NKE, VCR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XLY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Consumer Staples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WMT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VDC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Core Bonds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AGG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AGG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Energy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LNG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XLE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Financials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XLF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Health Care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UNH, ABBV, ABT, JNJ, CVS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XLV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Industrials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MMM, HII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XLI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Information Technology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AAPL, MSFT, QCOM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VGT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International Developed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VEA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VEA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Materials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SOLV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XLB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Real Estate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PSA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XLRE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US Large Cap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VOO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VOO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9b6c42f0fc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41" name="Google Shape;141;g39b6c42f0fc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9b6c42f0fc_0_10"/>
          <p:cNvSpPr txBox="1"/>
          <p:nvPr/>
        </p:nvSpPr>
        <p:spPr>
          <a:xfrm>
            <a:off x="2453400" y="862900"/>
            <a:ext cx="728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Summary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g39b6c42f0fc_0_10"/>
          <p:cNvSpPr txBox="1"/>
          <p:nvPr/>
        </p:nvSpPr>
        <p:spPr>
          <a:xfrm>
            <a:off x="1646525" y="2099700"/>
            <a:ext cx="927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g39b6c42f0fc_0_10" title="Screenshot 2025-10-20 at 3.22.5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6650" y="1748750"/>
            <a:ext cx="48387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9b6c42f0fc_0_10"/>
          <p:cNvSpPr txBox="1"/>
          <p:nvPr/>
        </p:nvSpPr>
        <p:spPr>
          <a:xfrm>
            <a:off x="3085200" y="3935325"/>
            <a:ext cx="6021600" cy="1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portfolio underperformed the S&amp;P 500 by 8.1% over the period.</a:t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Attribution analysis identifies Technology underweighting and weak stock selection as primary reasons.</a:t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9b6c42f0fc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51" name="Google Shape;151;g39b6c42f0fc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9b6c42f0fc_0_21"/>
          <p:cNvSpPr txBox="1"/>
          <p:nvPr/>
        </p:nvSpPr>
        <p:spPr>
          <a:xfrm>
            <a:off x="2453400" y="919100"/>
            <a:ext cx="728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Benchmark &amp; Portfolio Composition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g39b6c42f0fc_0_21" title="Screenshot 2025-10-20 at 3.26.1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7426" y="1590976"/>
            <a:ext cx="7837126" cy="384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9b6c42f0fc_0_21"/>
          <p:cNvSpPr txBox="1"/>
          <p:nvPr/>
        </p:nvSpPr>
        <p:spPr>
          <a:xfrm>
            <a:off x="3935325" y="5527650"/>
            <a:ext cx="4458600" cy="1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S&amp;P 500 is heavily concentrated in Information Technology (~28%) and Health Care (~13%).</a:t>
            </a:r>
            <a:endParaRPr sz="10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portfolio was underweight Technology (15%) and overweight Consumer Staples (12%), influencing performance sensitivity.</a:t>
            </a:r>
            <a:endParaRPr sz="10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39b6c42f0fc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60" name="Google Shape;160;g39b6c42f0fc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9b6c42f0fc_1_0"/>
          <p:cNvSpPr txBox="1"/>
          <p:nvPr/>
        </p:nvSpPr>
        <p:spPr>
          <a:xfrm>
            <a:off x="2453400" y="862900"/>
            <a:ext cx="728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Attribution Chart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g39b6c42f0fc_1_0"/>
          <p:cNvSpPr txBox="1"/>
          <p:nvPr/>
        </p:nvSpPr>
        <p:spPr>
          <a:xfrm>
            <a:off x="1646525" y="2099700"/>
            <a:ext cx="927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g39b6c42f0fc_1_0" title="Screenshot 2025-10-20 at 4.44.3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350" y="1466375"/>
            <a:ext cx="4965990" cy="246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9b6c42f0fc_1_0" title="Screenshot 2025-10-20 at 4.45.01 PM.png"/>
          <p:cNvPicPr preferRelativeResize="0"/>
          <p:nvPr/>
        </p:nvPicPr>
        <p:blipFill rotWithShape="1">
          <a:blip r:embed="rId6">
            <a:alphaModFix/>
          </a:blip>
          <a:srcRect b="0" l="0" r="970" t="0"/>
          <a:stretch/>
        </p:blipFill>
        <p:spPr>
          <a:xfrm>
            <a:off x="6098550" y="1466375"/>
            <a:ext cx="5039899" cy="2460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g39b6c42f0fc_1_0"/>
          <p:cNvGraphicFramePr/>
          <p:nvPr/>
        </p:nvGraphicFramePr>
        <p:xfrm>
          <a:off x="2067113" y="394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{21F16E17-5A11-4425-9D58-876F2FC761B2}</a:tableStyleId>
              </a:tblPr>
              <a:tblGrid>
                <a:gridCol w="2685925"/>
                <a:gridCol w="2685925"/>
                <a:gridCol w="2685925"/>
              </a:tblGrid>
              <a:tr h="267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Sector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Contribution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Key Driver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9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Information Technology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-6.1 bps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Underweight and underperformance vs VGT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9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Consumer Staples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+4.4 bps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Overweight during strong performance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02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Communication Services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+2.9 bps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META outperformance vs XLC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02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Industrials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-1.3 bps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Stock-specific lag in HII, MMM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02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Health Care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-0.8 bps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Flat vs XLV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02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Energy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+0.7 bps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Overweight LNG added value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39b6c42f0fc_1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71" name="Google Shape;171;g39b6c42f0fc_1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9b6c42f0fc_1_21"/>
          <p:cNvSpPr txBox="1"/>
          <p:nvPr/>
        </p:nvSpPr>
        <p:spPr>
          <a:xfrm>
            <a:off x="2453400" y="862900"/>
            <a:ext cx="728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3" name="Google Shape;173;g39b6c42f0fc_1_21"/>
          <p:cNvGraphicFramePr/>
          <p:nvPr/>
        </p:nvGraphicFramePr>
        <p:xfrm>
          <a:off x="1614325" y="144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{21F16E17-5A11-4425-9D58-876F2FC761B2}</a:tableStyleId>
              </a:tblPr>
              <a:tblGrid>
                <a:gridCol w="995925"/>
                <a:gridCol w="995925"/>
                <a:gridCol w="995925"/>
                <a:gridCol w="995925"/>
                <a:gridCol w="995925"/>
                <a:gridCol w="995925"/>
                <a:gridCol w="995925"/>
                <a:gridCol w="995925"/>
                <a:gridCol w="995925"/>
              </a:tblGrid>
              <a:tr h="45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Sector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Portfolio Weight (%)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Benchmark Weight (%)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Portfolio Return (%)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Benchmark Return (%)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Allocation (bps)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Selection (bps)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Interaction (bps)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(bps)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5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Consumer Staples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10.53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7.55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39.78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-71.48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396.85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112.33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437.71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5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Communication Services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24.52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11.08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41.17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37.69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156.05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85.28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46.73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288.05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Energy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3.95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3.31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22.12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-15.63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81.38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13.11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78.87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Financials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9.88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11.36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24.5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18.59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11.13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58.38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-8.78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60.73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Materials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-1.25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-16.77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9.48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9.48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5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Consumer Discretionary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6.22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11.71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29.45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-18.52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-87.36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77.23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-28.65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Health Care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14.81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9.63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-5.84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-165.2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101.12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35.35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-28.73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 Estate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-4.49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-21.65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-10.25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-4.95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-36.84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1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Industrials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5.74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14.26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21.81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-19.09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-76.97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-33.71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-129.78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5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Information Technology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17.48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38.68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13.88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39.9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-292.86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-454.8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551.4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-196.27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9b6c42f0fc_1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79" name="Google Shape;179;g39b6c42f0fc_1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9b6c42f0fc_1_43"/>
          <p:cNvSpPr txBox="1"/>
          <p:nvPr/>
        </p:nvSpPr>
        <p:spPr>
          <a:xfrm>
            <a:off x="2453400" y="862900"/>
            <a:ext cx="728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 and Takeaways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9b6c42f0fc_1_43"/>
          <p:cNvSpPr txBox="1"/>
          <p:nvPr/>
        </p:nvSpPr>
        <p:spPr>
          <a:xfrm>
            <a:off x="1973800" y="1706075"/>
            <a:ext cx="86385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Underweight in Tech hurt most – S&amp;P Tech drove market returns, and we were 20+% underweight.</a:t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sector calls in Consumer Staples and Communication Services offset part of the drag.</a:t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selection inconsistency – great in some sectors, poor in others (especially Health Care).</a:t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550"/>
              <a:buFont typeface="Times New Roman"/>
              <a:buChar char="●"/>
            </a:pPr>
            <a:r>
              <a:rPr lang="en-US" sz="15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Portfolio not benchmark-aligned – large deviations from S&amp;P sector weights amplified performance differences.</a:t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Next Steps</a:t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550"/>
              <a:buFont typeface="Times New Roman"/>
              <a:buAutoNum type="arabicPeriod"/>
            </a:pPr>
            <a:r>
              <a:rPr lang="en-US" sz="15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 Tech exposure – bring it closer to benchmark weight to avoid missing index-driven upside.</a:t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550"/>
              <a:buFont typeface="Times New Roman"/>
              <a:buAutoNum type="arabicPeriod"/>
            </a:pPr>
            <a:r>
              <a:rPr lang="en-US" sz="15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Tighten stock selection process in Health Care and Discretionary sectors.</a:t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550"/>
              <a:buFont typeface="Times New Roman"/>
              <a:buAutoNum type="arabicPeriod"/>
            </a:pPr>
            <a:r>
              <a:rPr lang="en-US" sz="15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winners in Consumer Staples and Communication Services.</a:t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550"/>
              <a:buFont typeface="Times New Roman"/>
              <a:buAutoNum type="arabicPeriod"/>
            </a:pPr>
            <a:r>
              <a:rPr lang="en-US" sz="15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 toward “benchmark-aware” weighting to balance tactical tilts with diversification.</a:t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550"/>
              <a:buFont typeface="Times New Roman"/>
              <a:buAutoNum type="arabicPeriod"/>
            </a:pPr>
            <a:r>
              <a:rPr lang="en-US" sz="155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 attribution tracking quarterly to identify alpha consistency over time.</a:t>
            </a:r>
            <a:endParaRPr sz="155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7afe67322b_1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87" name="Google Shape;187;g37afe67322b_1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7afe67322b_1_40"/>
          <p:cNvSpPr txBox="1"/>
          <p:nvPr/>
        </p:nvSpPr>
        <p:spPr>
          <a:xfrm>
            <a:off x="0" y="72915"/>
            <a:ext cx="1219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7afe67322b_1_40"/>
          <p:cNvSpPr txBox="1"/>
          <p:nvPr/>
        </p:nvSpPr>
        <p:spPr>
          <a:xfrm>
            <a:off x="-501000" y="2408550"/>
            <a:ext cx="131940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475" lIns="128475" spcFirstLastPara="1" rIns="128475" wrap="square" tIns="12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0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2021-06-07T21:42:08Z</dcterms:created>
  <dc:creator>Microsoft Office User</dc:creator>
</cp:coreProperties>
</file>