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embeddedFontLst>
    <p:embeddedFont>
      <p:font typeface="Oswald"/>
      <p:regular r:id="rId11"/>
      <p:bold r:id="rId12"/>
    </p:embeddedFont>
    <p:embeddedFont>
      <p:font typeface="Merriweather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Oswald-regular.fntdata"/><Relationship Id="rId10" Type="http://schemas.openxmlformats.org/officeDocument/2006/relationships/slide" Target="slides/slide6.xml"/><Relationship Id="rId13" Type="http://schemas.openxmlformats.org/officeDocument/2006/relationships/font" Target="fonts/Merriweather-regular.fntdata"/><Relationship Id="rId12" Type="http://schemas.openxmlformats.org/officeDocument/2006/relationships/font" Target="fonts/Oswald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erriweather-italic.fntdata"/><Relationship Id="rId14" Type="http://schemas.openxmlformats.org/officeDocument/2006/relationships/font" Target="fonts/Merriweather-bold.fntdata"/><Relationship Id="rId16" Type="http://schemas.openxmlformats.org/officeDocument/2006/relationships/font" Target="fonts/Merriweather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003f4eba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g3a003f4eba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54121508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g3a541215081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549ea6a4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" name="Google Shape;108;g3a549ea6a4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541215081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g3a541215081_2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afe67322b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g37afe67322b_1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Oswald"/>
              <a:buNone/>
            </a:pPr>
            <a:r>
              <a:t/>
            </a:r>
            <a:endParaRPr b="0" i="0" sz="8000" u="none" cap="none" strike="noStrike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1524000" y="3347925"/>
            <a:ext cx="9426300" cy="18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i="0" lang="en-US" sz="2300" u="none" cap="none" strike="noStrike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Georgio Najm and</a:t>
            </a:r>
            <a:r>
              <a:rPr lang="en-US" sz="23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i="0" lang="en-US" sz="2300" u="none" cap="none" strike="noStrike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Tevin Parathattal</a:t>
            </a:r>
            <a:endParaRPr i="0" sz="2300" u="none" cap="none" strike="noStrike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t/>
            </a:r>
            <a:endParaRPr i="0" sz="3600" u="none" cap="none" strike="noStrike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99"/>
              <a:buFont typeface="Arial"/>
              <a:buNone/>
            </a:pPr>
            <a:r>
              <a:rPr lang="en-US" sz="1968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November 17, 2025</a:t>
            </a:r>
            <a:endParaRPr i="0" sz="1968" u="none" cap="none" strike="noStrike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t/>
            </a:r>
            <a:endParaRPr i="0" sz="3600" u="none" cap="none" strike="noStrike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448888" y="1122363"/>
            <a:ext cx="11294224" cy="23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Font typeface="Oswald"/>
              <a:buNone/>
            </a:pPr>
            <a:r>
              <a:rPr lang="en-US" sz="60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Quant/Risk Presentation</a:t>
            </a:r>
            <a:endParaRPr i="0" sz="390" u="none" cap="none" strike="noStrike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descr="A green and gold coin with text and arrows&#10;&#10;AI-generated content may be incorrect."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55412" y="3347937"/>
            <a:ext cx="2387700" cy="238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5620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and gold coin with text and arrows&#10;&#10;AI-generated content may be incorrect.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76373" y="5440763"/>
            <a:ext cx="1492078" cy="1492078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2453400" y="721175"/>
            <a:ext cx="72852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Agenda 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1646525" y="2099700"/>
            <a:ext cx="9274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2402075" y="1888200"/>
            <a:ext cx="7763700" cy="24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erriweather"/>
              <a:buChar char="●"/>
            </a:pPr>
            <a:r>
              <a:rPr lang="en-US" sz="2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Overview</a:t>
            </a:r>
            <a:r>
              <a:rPr lang="en-US" sz="2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of Our Risk Analysis Process</a:t>
            </a:r>
            <a:endParaRPr sz="21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erriweather"/>
              <a:buChar char="●"/>
            </a:pPr>
            <a:r>
              <a:rPr lang="en-US" sz="2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How We Estimate Beta and Alpha Using CAPM in Excel</a:t>
            </a:r>
            <a:endParaRPr sz="21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erriweather"/>
              <a:buChar char="●"/>
            </a:pPr>
            <a:r>
              <a:rPr lang="en-US" sz="2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How to Calculate Sharpe Ratio Using Excel</a:t>
            </a:r>
            <a:endParaRPr sz="21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erriweather"/>
              <a:buChar char="●"/>
            </a:pPr>
            <a:r>
              <a:rPr lang="en-US" sz="2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Python Demo </a:t>
            </a:r>
            <a:endParaRPr sz="21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5620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and gold coin with text and arrows&#10;&#10;AI-generated content may be incorrect." id="102" name="Google Shape;10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76373" y="5440763"/>
            <a:ext cx="1492078" cy="149207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1414625" y="562050"/>
            <a:ext cx="9738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How We Estimate Beta and Alpha Using CAPM in Excel</a:t>
            </a:r>
            <a:endParaRPr sz="25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sz="3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1646525" y="2099700"/>
            <a:ext cx="9274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758625" y="1138650"/>
            <a:ext cx="11582100" cy="57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erriweather"/>
              <a:buAutoNum type="arabicPeriod"/>
            </a:pPr>
            <a:r>
              <a:rPr lang="en-US" sz="2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Go to Wharton Research Data Services → CRSP </a:t>
            </a:r>
            <a:endParaRPr sz="21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erriweather"/>
              <a:buAutoNum type="arabicPeriod"/>
            </a:pPr>
            <a:r>
              <a:rPr lang="en-US" sz="2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Click Stock/Security Files → Choose either Monthly or Daily Stock File </a:t>
            </a:r>
            <a:endParaRPr sz="21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erriweather"/>
              <a:buAutoNum type="arabicPeriod"/>
            </a:pPr>
            <a:r>
              <a:rPr lang="en-US" sz="2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Choose Data Variable → Search Name or Type Ticker</a:t>
            </a:r>
            <a:endParaRPr sz="21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erriweather"/>
              <a:buAutoNum type="arabicPeriod"/>
            </a:pPr>
            <a:r>
              <a:rPr lang="en-US" sz="2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Choose Query Variables: Click on “Returns” and “Return on S&amp;P Composite Index”</a:t>
            </a:r>
            <a:endParaRPr sz="21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erriweather"/>
              <a:buAutoNum type="arabicPeriod"/>
            </a:pPr>
            <a:r>
              <a:rPr lang="en-US" sz="2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Choose Query Output → Submit Form → Download Query Output (.xlxs) and </a:t>
            </a:r>
            <a:r>
              <a:rPr lang="en-US" sz="2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open</a:t>
            </a:r>
            <a:r>
              <a:rPr lang="en-US" sz="2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it</a:t>
            </a:r>
            <a:endParaRPr sz="21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erriweather"/>
              <a:buAutoNum type="arabicPeriod"/>
            </a:pPr>
            <a:r>
              <a:rPr lang="en-US" sz="2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Go back to the Home Page → Fama-French Portfolios &amp; Factors </a:t>
            </a:r>
            <a:endParaRPr sz="21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erriweather"/>
              <a:buAutoNum type="arabicPeriod"/>
            </a:pPr>
            <a:r>
              <a:rPr lang="en-US" sz="2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Repeat Step 3</a:t>
            </a:r>
            <a:endParaRPr sz="21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erriweather"/>
              <a:buAutoNum type="arabicPeriod"/>
            </a:pPr>
            <a:r>
              <a:rPr lang="en-US" sz="2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Select “(rf) Risk-Free Return Rate (One Month Treasury Bill Rate)”</a:t>
            </a:r>
            <a:endParaRPr sz="21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erriweather"/>
              <a:buAutoNum type="arabicPeriod"/>
            </a:pPr>
            <a:r>
              <a:rPr lang="en-US" sz="2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Repeat Step 5 </a:t>
            </a:r>
            <a:endParaRPr sz="21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erriweather"/>
              <a:buAutoNum type="arabicPeriod"/>
            </a:pPr>
            <a:r>
              <a:rPr lang="en-US" sz="2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Copy and Paste Risk-Free Return Rates to the first Excel File </a:t>
            </a:r>
            <a:endParaRPr sz="21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erriweather"/>
              <a:buAutoNum type="arabicPeriod"/>
            </a:pPr>
            <a:r>
              <a:rPr lang="en-US" sz="2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Compute Stock/Portfolio Excess Return </a:t>
            </a:r>
            <a:endParaRPr sz="21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erriweather"/>
              <a:buAutoNum type="arabicPeriod"/>
            </a:pPr>
            <a:r>
              <a:rPr lang="en-US" sz="2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Compute S&amp;P 500 Excess Return </a:t>
            </a:r>
            <a:endParaRPr sz="21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erriweather"/>
              <a:buAutoNum type="arabicPeriod"/>
            </a:pPr>
            <a:r>
              <a:rPr lang="en-US" sz="2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File → Options → Add-ins → Select Analysis ToolPak → Go → Ok</a:t>
            </a:r>
            <a:endParaRPr sz="21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erriweather"/>
              <a:buAutoNum type="arabicPeriod"/>
            </a:pPr>
            <a:r>
              <a:rPr lang="en-US" sz="2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In Excel → Data → Data Analysis → Regression</a:t>
            </a:r>
            <a:endParaRPr sz="21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erriweather"/>
              <a:buAutoNum type="arabicPeriod"/>
            </a:pPr>
            <a:r>
              <a:rPr lang="en-US" sz="2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For Y input: Select Stock/Portfolio Excess Returns</a:t>
            </a:r>
            <a:endParaRPr sz="21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erriweather"/>
              <a:buAutoNum type="arabicPeriod"/>
            </a:pPr>
            <a:r>
              <a:rPr lang="en-US" sz="2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For X input: Select S&amp;P 500 Returns then click Ok to run Regression</a:t>
            </a:r>
            <a:endParaRPr sz="21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erriweather"/>
              <a:buAutoNum type="arabicPeriod"/>
            </a:pPr>
            <a:r>
              <a:rPr lang="en-US" sz="2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Intercept is your Alpha and X variable is your beta </a:t>
            </a:r>
            <a:endParaRPr sz="21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5620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and gold coin with text and arrows&#10;&#10;AI-generated content may be incorrect." id="111" name="Google Shape;11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76373" y="5440763"/>
            <a:ext cx="1492078" cy="1492078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6"/>
          <p:cNvSpPr txBox="1"/>
          <p:nvPr/>
        </p:nvSpPr>
        <p:spPr>
          <a:xfrm>
            <a:off x="1646525" y="562050"/>
            <a:ext cx="9738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How to Calculate Sharpe Ratio in Excel</a:t>
            </a:r>
            <a:endParaRPr sz="4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16"/>
          <p:cNvSpPr txBox="1"/>
          <p:nvPr/>
        </p:nvSpPr>
        <p:spPr>
          <a:xfrm>
            <a:off x="1646525" y="2099700"/>
            <a:ext cx="9274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758625" y="1468500"/>
            <a:ext cx="11582100" cy="57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0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erriweather"/>
              <a:buAutoNum type="arabicPeriod"/>
            </a:pPr>
            <a:r>
              <a:rPr lang="en-US" sz="35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Click a cell → =STDEV.S(   </a:t>
            </a:r>
            <a:endParaRPr sz="35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450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erriweather"/>
              <a:buAutoNum type="arabicPeriod"/>
            </a:pPr>
            <a:r>
              <a:rPr lang="en-US" sz="35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Enter Range (Stock/Portfolio Returns) → Click Enter</a:t>
            </a:r>
            <a:endParaRPr sz="35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450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erriweather"/>
              <a:buAutoNum type="arabicPeriod"/>
            </a:pPr>
            <a:r>
              <a:rPr lang="en-US" sz="35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Average Stock/Portfolio Returns </a:t>
            </a:r>
            <a:endParaRPr sz="35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450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erriweather"/>
              <a:buAutoNum type="arabicPeriod"/>
            </a:pPr>
            <a:r>
              <a:rPr lang="en-US" sz="35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Divide Average </a:t>
            </a:r>
            <a:r>
              <a:rPr lang="en-US" sz="35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Stock/Portfolio Returns by Standard Deviation to get Sharpe Ratio</a:t>
            </a:r>
            <a:endParaRPr sz="35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5620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and gold coin with text and arrows&#10;&#10;AI-generated content may be incorrect." id="120" name="Google Shape;12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76373" y="5440763"/>
            <a:ext cx="1492078" cy="1492078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7"/>
          <p:cNvSpPr txBox="1"/>
          <p:nvPr/>
        </p:nvSpPr>
        <p:spPr>
          <a:xfrm>
            <a:off x="2453400" y="721175"/>
            <a:ext cx="72852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Demo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17"/>
          <p:cNvSpPr txBox="1"/>
          <p:nvPr/>
        </p:nvSpPr>
        <p:spPr>
          <a:xfrm>
            <a:off x="774025" y="1750975"/>
            <a:ext cx="4796100" cy="43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1. Clean &amp; Normalize Holdings</a:t>
            </a:r>
            <a:endParaRPr b="1" sz="6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667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Merriweather"/>
              <a:buChar char="●"/>
            </a:pPr>
            <a:r>
              <a:rPr lang="en-US" sz="6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Import positions, remove cash/non-investable rows, parse weights from % or market value, and renormalize to 100%.</a:t>
            </a:r>
            <a:br>
              <a:rPr lang="en-US" sz="6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</a:br>
            <a:endParaRPr sz="6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2. Pull 10 Years of Price Data</a:t>
            </a:r>
            <a:endParaRPr b="1" sz="6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667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Merriweather"/>
              <a:buChar char="●"/>
            </a:pPr>
            <a:r>
              <a:rPr lang="en-US" sz="6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Download daily adjusted prices for all tickers + SPY using yfinance; drop missing tickers and realign weights.</a:t>
            </a:r>
            <a:br>
              <a:rPr lang="en-US" sz="6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</a:br>
            <a:endParaRPr sz="6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3. Build Portfolio Return Series</a:t>
            </a:r>
            <a:endParaRPr b="1" sz="6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667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Merriweather"/>
              <a:buChar char="●"/>
            </a:pPr>
            <a:r>
              <a:rPr lang="en-US" sz="6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Convert prices to daily returns and compute weighted daily portfolio returns aligned with SPY.</a:t>
            </a:r>
            <a:br>
              <a:rPr lang="en-US" sz="6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</a:br>
            <a:endParaRPr sz="6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4. Compute Risk Metrics</a:t>
            </a:r>
            <a:endParaRPr b="1" sz="6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667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Merriweather"/>
              <a:buChar char="●"/>
            </a:pPr>
            <a:r>
              <a:rPr lang="en-US" sz="6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Historical &amp; Parametric VaR (95/99%, 1-day &amp; 1-week).</a:t>
            </a:r>
            <a:br>
              <a:rPr lang="en-US" sz="6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</a:br>
            <a:endParaRPr sz="6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66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Merriweather"/>
              <a:buChar char="●"/>
            </a:pPr>
            <a:r>
              <a:rPr lang="en-US" sz="6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Beta, Alpha, and R² vs SPY.</a:t>
            </a:r>
            <a:br>
              <a:rPr lang="en-US" sz="6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</a:br>
            <a:endParaRPr sz="6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66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Merriweather"/>
              <a:buChar char="●"/>
            </a:pPr>
            <a:r>
              <a:rPr lang="en-US" sz="6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Concentration via HHI and Top Exposures.</a:t>
            </a:r>
            <a:br>
              <a:rPr lang="en-US" sz="6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</a:br>
            <a:endParaRPr sz="6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5. Run SPY-Only “Shadow Portfolio”</a:t>
            </a:r>
            <a:endParaRPr b="1" sz="6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667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Merriweather"/>
              <a:buChar char="●"/>
            </a:pPr>
            <a:r>
              <a:rPr lang="en-US" sz="6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Apply the same VaR engine to SPY alone (beta=1, alpha=0, R²=1, HHI=1).</a:t>
            </a:r>
            <a:br>
              <a:rPr lang="en-US" sz="6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</a:br>
            <a:endParaRPr sz="6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6. Final Output Table</a:t>
            </a:r>
            <a:endParaRPr b="1" sz="6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667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Merriweather"/>
              <a:buChar char="●"/>
            </a:pPr>
            <a:r>
              <a:rPr lang="en-US" sz="6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Side-by-side comparison: Portfolio vs SPY risk, factor exposures, and concentration.</a:t>
            </a:r>
            <a:br>
              <a:rPr lang="en-US" sz="6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</a:br>
            <a:endParaRPr sz="6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23" name="Google Shape;123;p17" title="Screenshot 2025-11-17 at 4.28.48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16700" y="1617750"/>
            <a:ext cx="3208300" cy="460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5620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and gold coin with text and arrows&#10;&#10;AI-generated content may be incorrect." id="129" name="Google Shape;12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76373" y="5440763"/>
            <a:ext cx="1492078" cy="1492078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8"/>
          <p:cNvSpPr txBox="1"/>
          <p:nvPr/>
        </p:nvSpPr>
        <p:spPr>
          <a:xfrm>
            <a:off x="0" y="72915"/>
            <a:ext cx="1219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8"/>
          <p:cNvSpPr txBox="1"/>
          <p:nvPr/>
        </p:nvSpPr>
        <p:spPr>
          <a:xfrm>
            <a:off x="-501000" y="2408550"/>
            <a:ext cx="13194000" cy="20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8475" lIns="128475" spcFirstLastPara="1" rIns="128475" wrap="square" tIns="128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1"/>
              <a:buFont typeface="Arial"/>
              <a:buNone/>
            </a:pPr>
            <a:r>
              <a:rPr b="0" i="0" lang="en-US" sz="10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 b="0" i="0" sz="10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