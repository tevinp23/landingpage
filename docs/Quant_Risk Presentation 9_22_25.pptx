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Arial Black"/>
      <p:regular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5Ecoe1jcTnaT18MIUY81AAlQp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rialBlack-regular.fntdata"/><Relationship Id="rId21" Type="http://schemas.openxmlformats.org/officeDocument/2006/relationships/slide" Target="slides/slide17.xml"/><Relationship Id="rId24" Type="http://schemas.openxmlformats.org/officeDocument/2006/relationships/font" Target="fonts/Oswald-bold.fntdata"/><Relationship Id="rId23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1fe1c6a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81fe1c6a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1fe1c6a7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81fe1c6a7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1d67234f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81d67234f8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1d67234f8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81d67234f8_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1d67234f8_5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81d67234f8_5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1d67234f8_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81d67234f8_5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1d67234f8_5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81d67234f8_5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1d67234f8_5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1d67234f8_5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1d67234f8_5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1d67234f8_5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1d67234f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1d67234f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1d67234f8_5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81d67234f8_5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d67234f8_5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81d67234f8_5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d67234f8_5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81d67234f8_5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fe1c6a7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Companies make choices: how much they invest, how much profit they generate.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Those choices affect their stock returns in predictable ways.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Q-factor model says: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Stocks move with the </a:t>
            </a:r>
            <a:r>
              <a:rPr b="1" lang="en-US">
                <a:solidFill>
                  <a:schemeClr val="dk1"/>
                </a:solidFill>
              </a:rPr>
              <a:t>market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Small companies behave differently from big ones (</a:t>
            </a:r>
            <a:r>
              <a:rPr b="1" lang="en-US">
                <a:solidFill>
                  <a:schemeClr val="dk1"/>
                </a:solidFill>
              </a:rPr>
              <a:t>size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invest cautiously (don’t blow cash on projects) do better than aggressive spenders (</a:t>
            </a:r>
            <a:r>
              <a:rPr b="1" lang="en-US">
                <a:solidFill>
                  <a:schemeClr val="dk1"/>
                </a:solidFill>
              </a:rPr>
              <a:t>investment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make strong profits beat weak ones (</a:t>
            </a:r>
            <a:r>
              <a:rPr b="1" lang="en-US">
                <a:solidFill>
                  <a:schemeClr val="dk1"/>
                </a:solidFill>
              </a:rPr>
              <a:t>profitability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If you’re making money just by holding profitable, conservative firms, that’s </a:t>
            </a:r>
            <a:r>
              <a:rPr b="1" lang="en-US">
                <a:solidFill>
                  <a:schemeClr val="dk1"/>
                </a:solidFill>
              </a:rPr>
              <a:t>not skill</a:t>
            </a:r>
            <a:r>
              <a:rPr lang="en-US">
                <a:solidFill>
                  <a:schemeClr val="dk1"/>
                </a:solidFill>
              </a:rPr>
              <a:t>—that’s just loading on these factors.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Alpha here = did you earn money that can’t be explained by market, size, investment, or profitability?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👉 Think of it like stripping excuses away: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CAPM says: </a:t>
            </a:r>
            <a:r>
              <a:rPr i="1" lang="en-US">
                <a:solidFill>
                  <a:schemeClr val="dk1"/>
                </a:solidFill>
              </a:rPr>
              <a:t>“You only beat the market if you dodge beta.”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Fama-French says: </a:t>
            </a:r>
            <a:r>
              <a:rPr i="1" lang="en-US">
                <a:solidFill>
                  <a:schemeClr val="dk1"/>
                </a:solidFill>
              </a:rPr>
              <a:t>“Nope, also no extra points for picking small or cheap stocks.”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Q-Factor says: </a:t>
            </a:r>
            <a:r>
              <a:rPr i="1" lang="en-US">
                <a:solidFill>
                  <a:schemeClr val="dk1"/>
                </a:solidFill>
              </a:rPr>
              <a:t>“And don’t act like buying profitable or conservative-investment firms is skill either.”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81fe1c6a79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1fe1c6a7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Companies make choices: how much they invest, how much profit they generate.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Those choices affect their stock returns in predictable ways.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Q-factor model says: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Stocks move with the </a:t>
            </a:r>
            <a:r>
              <a:rPr b="1" lang="en-US">
                <a:solidFill>
                  <a:schemeClr val="dk1"/>
                </a:solidFill>
              </a:rPr>
              <a:t>market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Small companies behave differently from big ones (</a:t>
            </a:r>
            <a:r>
              <a:rPr b="1" lang="en-US">
                <a:solidFill>
                  <a:schemeClr val="dk1"/>
                </a:solidFill>
              </a:rPr>
              <a:t>size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invest cautiously (don’t blow cash on projects) do better than aggressive spenders (</a:t>
            </a:r>
            <a:r>
              <a:rPr b="1" lang="en-US">
                <a:solidFill>
                  <a:schemeClr val="dk1"/>
                </a:solidFill>
              </a:rPr>
              <a:t>investment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make strong profits beat weak ones (</a:t>
            </a:r>
            <a:r>
              <a:rPr b="1" lang="en-US">
                <a:solidFill>
                  <a:schemeClr val="dk1"/>
                </a:solidFill>
              </a:rPr>
              <a:t>profitability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If you’re making money just by holding profitable, conservative firms, that’s </a:t>
            </a:r>
            <a:r>
              <a:rPr b="1" lang="en-US">
                <a:solidFill>
                  <a:schemeClr val="dk1"/>
                </a:solidFill>
              </a:rPr>
              <a:t>not skill</a:t>
            </a:r>
            <a:r>
              <a:rPr lang="en-US">
                <a:solidFill>
                  <a:schemeClr val="dk1"/>
                </a:solidFill>
              </a:rPr>
              <a:t>—that’s just loading on these factors.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Alpha here = did you earn money that can’t be explained by market, size, investment, or profitability?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👉 Think of it like stripping excuses away: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CAPM says: </a:t>
            </a:r>
            <a:r>
              <a:rPr i="1" lang="en-US">
                <a:solidFill>
                  <a:schemeClr val="dk1"/>
                </a:solidFill>
              </a:rPr>
              <a:t>“You only beat the market if you dodge beta.”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Fama-French says: </a:t>
            </a:r>
            <a:r>
              <a:rPr i="1" lang="en-US">
                <a:solidFill>
                  <a:schemeClr val="dk1"/>
                </a:solidFill>
              </a:rPr>
              <a:t>“Nope, also no extra points for picking small or cheap stocks.”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Q-Factor says: </a:t>
            </a:r>
            <a:r>
              <a:rPr i="1" lang="en-US">
                <a:solidFill>
                  <a:schemeClr val="dk1"/>
                </a:solidFill>
              </a:rPr>
              <a:t>“And don’t act like buying profitable or conservative-investment firms is skill either.”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81fe1c6a79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afe67322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7afe67322b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jpg"/><Relationship Id="rId6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160475" y="3347925"/>
            <a:ext cx="34953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Georgio Najm </a:t>
            </a:r>
            <a:endParaRPr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Tevin Parathattal</a:t>
            </a:r>
            <a:endParaRPr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82864"/>
              <a:buFont typeface="Arial"/>
              <a:buNone/>
            </a:pPr>
            <a:r>
              <a:rPr i="0" lang="en-US" sz="1968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September</a:t>
            </a:r>
            <a:r>
              <a:rPr lang="en-US" sz="196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22,</a:t>
            </a:r>
            <a:r>
              <a:rPr i="0" lang="en-US" sz="1968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2025</a:t>
            </a:r>
            <a:endParaRPr i="0" sz="196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48888" y="1122363"/>
            <a:ext cx="11294224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rPr i="0" lang="en-US" sz="8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Quant/Risk Report</a:t>
            </a:r>
            <a:endParaRPr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and gold coin with text and arrows&#10;&#10;AI-generated content may be incorrect." id="87" name="Google Shape;8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412" y="3347937"/>
            <a:ext cx="2387700" cy="2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81fe1c6a79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93" name="Google Shape;93;g381fe1c6a79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81fe1c6a79_0_5"/>
          <p:cNvSpPr txBox="1"/>
          <p:nvPr/>
        </p:nvSpPr>
        <p:spPr>
          <a:xfrm>
            <a:off x="3261600" y="1086625"/>
            <a:ext cx="56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SPY vs SMIF Portfolio VaR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g381fe1c6a79_0_5" title="Screenshot 2025-09-22 at 6.30.1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810" y="1671625"/>
            <a:ext cx="3628367" cy="19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81fe1c6a79_0_5" title="Screenshot 2025-09-22 at 6.31.5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100" y="3831275"/>
            <a:ext cx="4558276" cy="223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81fe1c6a79_0_5" title="Screenshot 2025-09-22 at 6.32.35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8100" y="3839637"/>
            <a:ext cx="4558274" cy="217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81fe1c6a79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03" name="Google Shape;103;g381fe1c6a79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81fe1c6a79_0_16"/>
          <p:cNvSpPr txBox="1"/>
          <p:nvPr/>
        </p:nvSpPr>
        <p:spPr>
          <a:xfrm>
            <a:off x="3261600" y="1086625"/>
            <a:ext cx="56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SPY vs SMIF Sector Breakdown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g381fe1c6a79_0_16" title="Screenshot 2025-09-22 at 6.34.4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999" y="2493092"/>
            <a:ext cx="5893298" cy="311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81fe1c6a79_0_16" title="Screenshot 2025-09-22 at 6.35.1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8597" y="2493100"/>
            <a:ext cx="5554903" cy="248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81d67234f8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12" name="Google Shape;112;g381d67234f8_5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81d67234f8_5_0"/>
          <p:cNvSpPr txBox="1"/>
          <p:nvPr/>
        </p:nvSpPr>
        <p:spPr>
          <a:xfrm>
            <a:off x="3751950" y="1126925"/>
            <a:ext cx="468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Risk &amp; Alpha Matter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g381d67234f8_5_0"/>
          <p:cNvSpPr txBox="1"/>
          <p:nvPr/>
        </p:nvSpPr>
        <p:spPr>
          <a:xfrm>
            <a:off x="2005050" y="2381500"/>
            <a:ext cx="8181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Core question: Are our returns driven by skill (true alpha) or just by systematic exposures?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Why it matters: Misattributed alpha = overconfidence in strategies, hidden risks to the fund.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Today’s agenda: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Risk metrics: Beta, R², Value-at-Risk (VaR), concentration, and sector tilts.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frameworks: CAPM → Fama–French 3-factor → Fama–French 5-factor →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Goal for SMIF: Build a disciplined process to separate intentional bets from unintended risk exposures.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81d67234f8_5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20" name="Google Shape;120;g381d67234f8_5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81d67234f8_5_10"/>
          <p:cNvSpPr txBox="1"/>
          <p:nvPr/>
        </p:nvSpPr>
        <p:spPr>
          <a:xfrm>
            <a:off x="3751950" y="1126925"/>
            <a:ext cx="468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Metrics -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Beta 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g381d67234f8_5_10"/>
          <p:cNvSpPr txBox="1"/>
          <p:nvPr/>
        </p:nvSpPr>
        <p:spPr>
          <a:xfrm>
            <a:off x="2005050" y="4174250"/>
            <a:ext cx="8181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Interpretation: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β &gt; 1 → portfolio more volatile than market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β &lt; 1 → portfolio less volatile (defensive)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Our Result: β ≈ 0.82 → we’re less volatile than SPY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Implication: Even when market swings, our portfolio moves less.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g381d67234f8_5_10" title="Screenshot 2025-09-22 at 1.59.22 PM.png"/>
          <p:cNvPicPr preferRelativeResize="0"/>
          <p:nvPr/>
        </p:nvPicPr>
        <p:blipFill rotWithShape="1">
          <a:blip r:embed="rId5">
            <a:alphaModFix/>
          </a:blip>
          <a:srcRect b="45796" l="0" r="0" t="0"/>
          <a:stretch/>
        </p:blipFill>
        <p:spPr>
          <a:xfrm>
            <a:off x="3923063" y="1920163"/>
            <a:ext cx="3919050" cy="2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81d67234f8_5_10" title="Screenshot 2025-09-22 at 2.01.42 PM.png"/>
          <p:cNvPicPr preferRelativeResize="0"/>
          <p:nvPr/>
        </p:nvPicPr>
        <p:blipFill rotWithShape="1">
          <a:blip r:embed="rId6">
            <a:alphaModFix/>
          </a:blip>
          <a:srcRect b="0" l="3016" r="0" t="0"/>
          <a:stretch/>
        </p:blipFill>
        <p:spPr>
          <a:xfrm>
            <a:off x="4510838" y="2389388"/>
            <a:ext cx="274347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81d67234f8_5_10" title="Screenshot 2025-09-22 at 2.07.37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25050" y="2627450"/>
            <a:ext cx="247650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81d67234f8_5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31" name="Google Shape;131;g381d67234f8_5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81d67234f8_5_38"/>
          <p:cNvSpPr txBox="1"/>
          <p:nvPr/>
        </p:nvSpPr>
        <p:spPr>
          <a:xfrm>
            <a:off x="3751950" y="1119800"/>
            <a:ext cx="468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Metrics - R</a:t>
            </a:r>
            <a:r>
              <a:rPr baseline="30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81d67234f8_5_38"/>
          <p:cNvSpPr txBox="1"/>
          <p:nvPr/>
        </p:nvSpPr>
        <p:spPr>
          <a:xfrm>
            <a:off x="2005050" y="4174250"/>
            <a:ext cx="8181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SSE = unexplained variation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SST = total variation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Interpretation: Proportion of portfolio returns explained by the model (market, factors, etc.).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Our Result: R² ≈ 0.895 → 89.5% of our portfolio’s movement is explained by SPY.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Implication: Only ~12% could be due to stock-picking skill or unique bets.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g381d67234f8_5_38" title="Screenshot 2025-09-22 at 1.59.22 PM.png"/>
          <p:cNvPicPr preferRelativeResize="0"/>
          <p:nvPr/>
        </p:nvPicPr>
        <p:blipFill rotWithShape="1">
          <a:blip r:embed="rId5">
            <a:alphaModFix/>
          </a:blip>
          <a:srcRect b="10342" l="18405" r="5508" t="38912"/>
          <a:stretch/>
        </p:blipFill>
        <p:spPr>
          <a:xfrm>
            <a:off x="4605000" y="1837200"/>
            <a:ext cx="2982000" cy="2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81d67234f8_5_38" title="Screenshot 2025-09-22 at 2.07.3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7750" y="2358888"/>
            <a:ext cx="247650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81d67234f8_5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41" name="Google Shape;141;g381d67234f8_5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81d67234f8_5_51"/>
          <p:cNvSpPr txBox="1"/>
          <p:nvPr/>
        </p:nvSpPr>
        <p:spPr>
          <a:xfrm>
            <a:off x="3751950" y="1119800"/>
            <a:ext cx="468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at Risk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81d67234f8_5_51"/>
          <p:cNvSpPr txBox="1"/>
          <p:nvPr/>
        </p:nvSpPr>
        <p:spPr>
          <a:xfrm>
            <a:off x="2005050" y="3405925"/>
            <a:ext cx="8181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Concept: “What’s the most we might lose, with X% confidence, in 1 day/week?”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Methods: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Historical (percentiles of actual returns)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Parametric (assuming normal distribution)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Our Result: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95% 1-day VaR ≈ –$8K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99% 1-day VaR ≈ –$16K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Implication: Tail losses are meaningful, especially in high-volatility regimes.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g381d67234f8_5_51" title="Screenshot 2025-09-22 at 3.32.1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0137" y="1902528"/>
            <a:ext cx="237172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81d67234f8_5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50" name="Google Shape;150;g381d67234f8_5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81d67234f8_5_62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 - Why Alpha Matters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381d67234f8_5_62"/>
          <p:cNvSpPr txBox="1"/>
          <p:nvPr/>
        </p:nvSpPr>
        <p:spPr>
          <a:xfrm>
            <a:off x="2005050" y="4252500"/>
            <a:ext cx="8181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Beta, R², VaR = risk side.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Next: Are we delivering returns above what risk exposures predict?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Roadmap: CAPM alpha → FF3 → FF5 → q-factor.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Big Question: Is our performance true stock-picking skill or just factor tilts?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g381d67234f8_5_62" title="Screenshot 2025-09-22 at 3.39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0963" y="1974816"/>
            <a:ext cx="2890063" cy="2050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81d67234f8_5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59" name="Google Shape;159;g381d67234f8_5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81d67234f8_5_122"/>
          <p:cNvSpPr txBox="1"/>
          <p:nvPr/>
        </p:nvSpPr>
        <p:spPr>
          <a:xfrm>
            <a:off x="3194838" y="1162475"/>
            <a:ext cx="5802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CAPM Alpha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81d67234f8_5_122"/>
          <p:cNvSpPr txBox="1"/>
          <p:nvPr/>
        </p:nvSpPr>
        <p:spPr>
          <a:xfrm>
            <a:off x="2005050" y="4252500"/>
            <a:ext cx="818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81d67234f8_5_122"/>
          <p:cNvSpPr txBox="1"/>
          <p:nvPr/>
        </p:nvSpPr>
        <p:spPr>
          <a:xfrm>
            <a:off x="2005050" y="3749525"/>
            <a:ext cx="8181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Expected return = Risk-free rate + β × (Market return – Risk-free).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= Extra return beyond CAPM prediction.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Think of it as the “skill” or “edge”: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α &gt; 0: Outperformed what risk exposure explains.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α = 0: Matched the market, no edge.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α &lt; 0: Underperformed, even after adjusting for risk.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Why it matters: Separates luck (beta exposure) from manager skill.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g381d67234f8_5_122" title="Screenshot 2025-09-22 at 3.39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926" y="1860825"/>
            <a:ext cx="2305000" cy="163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81d67234f8_5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69" name="Google Shape;169;g381d67234f8_5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81d67234f8_5_82"/>
          <p:cNvSpPr txBox="1"/>
          <p:nvPr/>
        </p:nvSpPr>
        <p:spPr>
          <a:xfrm>
            <a:off x="3194838" y="1162475"/>
            <a:ext cx="5802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CAPM Alpha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g381d67234f8_5_82"/>
          <p:cNvSpPr txBox="1"/>
          <p:nvPr/>
        </p:nvSpPr>
        <p:spPr>
          <a:xfrm>
            <a:off x="2005050" y="4252500"/>
            <a:ext cx="818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g381d67234f8_5_82" title="Screenshot 2025-09-22 at 3.56.13 PM.png"/>
          <p:cNvPicPr preferRelativeResize="0"/>
          <p:nvPr/>
        </p:nvPicPr>
        <p:blipFill rotWithShape="1">
          <a:blip r:embed="rId5">
            <a:alphaModFix/>
          </a:blip>
          <a:srcRect b="55116" l="0" r="0" t="0"/>
          <a:stretch/>
        </p:blipFill>
        <p:spPr>
          <a:xfrm>
            <a:off x="1190625" y="2302750"/>
            <a:ext cx="9810750" cy="6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81d67234f8_5_82"/>
          <p:cNvSpPr txBox="1"/>
          <p:nvPr/>
        </p:nvSpPr>
        <p:spPr>
          <a:xfrm>
            <a:off x="2005050" y="3741650"/>
            <a:ext cx="8181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≈ +6% annualized → small but positive (barely significant, t ≈ 1.6)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Beta ≈ 0.69 → we’re less volatile than the market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R² ≈ 0.88 → most of our returns explained by SPY (not pure stock-picking)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Interpretation: CAPM says we’re slightly beating the market.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81d67234f8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79" name="Google Shape;179;g381d67234f8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81d67234f8_3_0"/>
          <p:cNvSpPr txBox="1"/>
          <p:nvPr/>
        </p:nvSpPr>
        <p:spPr>
          <a:xfrm>
            <a:off x="3399950" y="-11475"/>
            <a:ext cx="683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WHO ARE FAMA &amp; FRENCH?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81d67234f8_3_0"/>
          <p:cNvSpPr txBox="1"/>
          <p:nvPr/>
        </p:nvSpPr>
        <p:spPr>
          <a:xfrm>
            <a:off x="637900" y="787450"/>
            <a:ext cx="5073900" cy="55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Eugene Fama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Finance, University of Chicago Booth School of Business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 as the “Father of the Efficient Market Hypothesis”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Awarded the 2013 Nobel Prize in Economics for his work on asset pricing.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g381d67234f8_3_0"/>
          <p:cNvSpPr txBox="1"/>
          <p:nvPr/>
        </p:nvSpPr>
        <p:spPr>
          <a:xfrm>
            <a:off x="6469225" y="837300"/>
            <a:ext cx="4874400" cy="5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Kenneth French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of Finance,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Dartmouth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Tuck School of Business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asset pricing, portfolio theory, and risk management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Recognized as one of the most influential voices in modern finance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g381d67234f8_3_0" title="chicago-booth-eugene-fam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2900" y="1364525"/>
            <a:ext cx="1903900" cy="230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81d67234f8_3_0" title="KenFrench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3325" y="1401625"/>
            <a:ext cx="1944900" cy="22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81d67234f8_5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90" name="Google Shape;190;g381d67234f8_5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81d67234f8_5_97"/>
          <p:cNvSpPr txBox="1"/>
          <p:nvPr/>
        </p:nvSpPr>
        <p:spPr>
          <a:xfrm>
            <a:off x="3194838" y="833550"/>
            <a:ext cx="58023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Introduction to the Fama-French Models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381d67234f8_5_97"/>
          <p:cNvSpPr txBox="1"/>
          <p:nvPr/>
        </p:nvSpPr>
        <p:spPr>
          <a:xfrm>
            <a:off x="1710338" y="2086800"/>
            <a:ext cx="40623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Fama–French 3-Factor (FF3)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Market (MKT-RF): The excess return of the market over risk-free.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Size (SMB = Small Minus Big): Small-cap stocks outperform large-caps, on average.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Value (HML = High Minus Low): Value stocks (high book-to-market) outperform growth stocks.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381d67234f8_5_97"/>
          <p:cNvSpPr txBox="1"/>
          <p:nvPr/>
        </p:nvSpPr>
        <p:spPr>
          <a:xfrm>
            <a:off x="6405363" y="2086800"/>
            <a:ext cx="4062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Fama–French 5-Factor (FF5)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Profitability (RMW = Robust Minus Weak): Profitable firms outperform weak ones.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Investment (CMA = Conservative Minus Aggressive): Firms that invest conservatively outperform heavy-investment firms.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81d67234f8_5_97"/>
          <p:cNvSpPr txBox="1"/>
          <p:nvPr/>
        </p:nvSpPr>
        <p:spPr>
          <a:xfrm>
            <a:off x="2296050" y="5620100"/>
            <a:ext cx="759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control for common knowledge, how good are you?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81d67234f8_5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00" name="Google Shape;200;g381d67234f8_5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81d67234f8_5_74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Fama-French 3 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g381d67234f8_5_74"/>
          <p:cNvSpPr txBox="1"/>
          <p:nvPr/>
        </p:nvSpPr>
        <p:spPr>
          <a:xfrm>
            <a:off x="1970050" y="2985875"/>
            <a:ext cx="81819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≈ –5% annualized → underperforms once size/value factors are controlled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MKT-RF beta ≈ 0.71 → still strongly tied to the market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SMB beta ≈ +0.43 → tilted toward small-cap/growth exposure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HML beta ≈ –0.72 → heavily tilted against value (i.e., toward growth stocks)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R² ≈ 0.65 → less variance explained vs. CAPM (model shows tilts matter more than market alone)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Interpretation: Once factor tilts are accounted for, “alpha” disappears → our “skill” looks like a growth/small-cap tilt, not pure stock-picking.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g381d67234f8_5_74" title="Screenshot 2025-09-22 at 3.59.1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0150" y="2291775"/>
            <a:ext cx="95916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81d67234f8_5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09" name="Google Shape;209;g381d67234f8_5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81d67234f8_5_112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Fama-French 5 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g381d67234f8_5_112"/>
          <p:cNvSpPr txBox="1"/>
          <p:nvPr/>
        </p:nvSpPr>
        <p:spPr>
          <a:xfrm>
            <a:off x="2005050" y="3336325"/>
            <a:ext cx="8181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≈ –5% annualized → portfolio underperforms once size, value, profitability, and investment factors are stripped out.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Factor exposures: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SMB (+0.41) → tilted toward smaller stocks.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HML (–0.90) → strongly tilted toward growth (anti-value).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RMW (–0.21) → low-profitability tilt.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CMA (+0.20) → slight conservative investment tilt.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R² ≈ 65% → most of our returns explained by common factors, not unique stock-picking.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g381d67234f8_5_112" title="Screenshot 2025-09-22 at 4.05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0638" y="2179950"/>
            <a:ext cx="961072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81fe1c6a79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18" name="Google Shape;218;g381fe1c6a79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81fe1c6a79_0_27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g381fe1c6a79_0_27"/>
          <p:cNvSpPr txBox="1"/>
          <p:nvPr/>
        </p:nvSpPr>
        <p:spPr>
          <a:xfrm>
            <a:off x="2005050" y="2498225"/>
            <a:ext cx="8181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Developed by Hou, Xue, and Zhang (2015) as an alternative to Fama-French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Grounded in investment-based asset pricing theory rather than pure empirical anomalies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Four factors: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Market (broad market excess return)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Size (small minus big)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Investment (conservative vs. aggressive firm investment)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Profitability (robust vs. weak operating profitability)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Interprets anomalies as outcomes of firm decisions on investment and profitability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Claims greater parsimony and theoretical foundation than Fama-French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represents true stock-picking skill after controlling for these economic drivers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381fe1c6a79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26" name="Google Shape;226;g381fe1c6a79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81fe1c6a79_0_37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g381fe1c6a79_0_37"/>
          <p:cNvSpPr txBox="1"/>
          <p:nvPr/>
        </p:nvSpPr>
        <p:spPr>
          <a:xfrm>
            <a:off x="1163400" y="2747075"/>
            <a:ext cx="98652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Alpha (monthly): –0.43% → Portfolio underperforms the Q-factor model by ~0.43% per month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Alpha (annualized): –5.12% → That compounds to about –5% per year of “negative skill” after accounting for factors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Alpha t-stat: –33.9 → Extremely statistically significant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Market Beta (MKT = 1.33) → Portfolio is more volatile/risk-exposed than the market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Size loading (ME = –0.45) → Tilts toward large-cap stocks (negative on small-minus-big factor)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Investment loading (IA = 0.02) → Basically neutral exposure to conservative vs aggressive investors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Profitability loading (ROE = –0.96) → Tilted away from high-profit firms (more weight on low-profitability firms)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R² = 0.73 → About 73% of the returns are explained by these factors; the rest is idiosyncratic noise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 = 10 → Regression is based on 10 monthly observations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g381fe1c6a79_0_37" title="Screenshot 2025-09-22 at 6.47.1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735" y="1905875"/>
            <a:ext cx="10602527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37afe67322b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35" name="Google Shape;235;g37afe67322b_1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7afe67322b_1_40"/>
          <p:cNvSpPr txBox="1"/>
          <p:nvPr/>
        </p:nvSpPr>
        <p:spPr>
          <a:xfrm>
            <a:off x="0" y="72915"/>
            <a:ext cx="121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7afe67322b_1_40"/>
          <p:cNvSpPr txBox="1"/>
          <p:nvPr/>
        </p:nvSpPr>
        <p:spPr>
          <a:xfrm>
            <a:off x="-501000" y="2408550"/>
            <a:ext cx="13194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475" lIns="128475" spcFirstLastPara="1" rIns="128475" wrap="square" tIns="12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0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2021-06-07T21:42:08Z</dcterms:created>
  <dc:creator>Microsoft Office User</dc:creator>
</cp:coreProperties>
</file>